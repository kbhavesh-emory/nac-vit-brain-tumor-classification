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59" r:id="rId8"/>
  </p:sldIdLst>
  <p:sldSz cy="6858000" cx="12192000"/>
  <p:notesSz cx="6858000" cy="9144000"/>
  <p:embeddedFontLst>
    <p:embeddedFont>
      <p:font typeface="Raleway"/>
      <p:regular r:id="rId9"/>
      <p:bold r:id="rId10"/>
      <p:italic r:id="rId11"/>
      <p:boldItalic r:id="rId12"/>
    </p:embeddedFont>
    <p:embeddedFont>
      <p:font typeface="La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j0BOadIuD3hVQUJuXoxxhEteaw+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
<Relationships xmlns="http://schemas.openxmlformats.org/package/2006/relationships"><Relationship Id="rId11" Type="http://schemas.openxmlformats.org/officeDocument/2006/relationships/font" Target="fonts/Raleway-italic.fntdata"/><Relationship Id="rId10" Type="http://schemas.openxmlformats.org/officeDocument/2006/relationships/font" Target="fonts/Raleway-bold.fntdata"/><Relationship Id="rId13" Type="http://schemas.openxmlformats.org/officeDocument/2006/relationships/font" Target="fonts/Lato-regular.fntdata"/><Relationship Id="rId12" Type="http://schemas.openxmlformats.org/officeDocument/2006/relationships/font" Target="fonts/Raleway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Raleway-regular.fntdata"/><Relationship Id="rId15" Type="http://schemas.openxmlformats.org/officeDocument/2006/relationships/font" Target="fonts/Lato-italic.fntdata"/><Relationship Id="rId14" Type="http://schemas.openxmlformats.org/officeDocument/2006/relationships/font" Target="fonts/Lato-bold.fntdata"/><Relationship Id="rId17" Type="http://customschemas.google.com/relationships/presentationmetadata" Target="metadata"/><Relationship Id="rId16" Type="http://schemas.openxmlformats.org/officeDocument/2006/relationships/font" Target="fonts/Lato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abad0cd3c_1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abad0cd3c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lang="en-US"/>
              <a:t>Title, author, affiliation and email: camera-ready paper src/ICISHCT_T2_PM_009_CameraReady.docx (title block). Paper ID T2_PM_009; single author.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70d7ea8d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lang="en-US"/>
              <a:t>Sources: paper §1 Introduction (MRI principal noninvasive exam [1],[2]; four classes overlap on single-sequence images; accuracies not directly comparable - backbone fixed vs fine-tuned, same-collection test) and Abstract (3,264 public four-class MR images; attention advanced by a short logistic ODE rather than a single softmax). phi and omega parametrize the attention update; they are not membrane-potential or EEG estimates (paper §1).</a:t>
            </a:r>
          </a:p>
        </p:txBody>
      </p:sp>
      <p:sp>
        <p:nvSpPr>
          <p:cNvPr id="111" name="Google Shape;111;g3f70d7ea8dc_0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9abc5bc8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lang="en-US"/>
              <a:t>Sources: paper §1 Introduction, final paragraph (earlier frozen-backbone experiment 69.05%, not reproduced; the three questions) and first paragraph (accuracies not directly comparable). 'Gates untested' is the paper's third question restated as a gap.</a:t>
            </a:r>
          </a:p>
        </p:txBody>
      </p:sp>
      <p:sp>
        <p:nvSpPr>
          <p:cNvPr id="117" name="Google Shape;117;g3f9abc5bc8b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lang="en-US"/>
              <a:t>Sources: paper title block (email), Data and code availability (code URL), Acknowledgment (PARAM Shavak at IAR University; maintainers of public MRI archives).</a:t>
            </a:r>
          </a:p>
        </p:txBody>
      </p:sp>
      <p:sp>
        <p:nvSpPr>
          <p:cNvPr id="123" name="Google Shape;123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9abc5bc8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lang="en-US"/>
              <a:t>Sources: paper Materials and Methods (NAC-ViT, 88.10M params; protocols fixed before test labels; detection model trained separately, no detector outputs passed to NAC-ViT), Results (learned φ, ω, τ; 12 errors, Table 5), Discussion (future controlled ablation without NAC; domain adaptation / multi-source training; multi-institutional patient-level validation and reader studies; two-stage pipeline is a design, not measured).</a:t>
            </a:r>
          </a:p>
        </p:txBody>
      </p:sp>
      <p:sp>
        <p:nvSpPr>
          <p:cNvPr id="117" name="Google Shape;117;g3f9abc5bc8b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9abc5bc8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lang="en-US"/>
              <a:t>Sources: paper Materials and Methods (Table 1 counts; pooled 80/10/10 seed 42 = 2,609/325/330; Testing folder 394 as external test, stratified 10% of Training folder for validation; resize 224x224 + ImageNet normalisation; augmentation h-flip, ±15° rotation, brightness/contrast 0.1; Table 2 AdamW, label smoothing 0.1; Statistical reporting: Wilson CI, macro F1, macro AUC), Table 3 (96.36%, 78.43%), Detection model + Table 7 (YOLO11m, 640, 300 epochs, AdamW + cosine, epoch 27 P 0.417 R 0.795 mAP50 0.477). No detector output was passed to NAC-ViT.</a:t>
            </a:r>
          </a:p>
        </p:txBody>
      </p:sp>
      <p:sp>
        <p:nvSpPr>
          <p:cNvPr id="117" name="Google Shape;117;g3f9abc5bc8b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9abc5bc8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lang="en-US"/>
              <a:t>Sources: paper Materials and Methods, NAC-ViT paragraph and Table 2 (ViT-B/16 IMAGENET1K_V1; 224x224 -&gt; 196 16x16 patches -&gt; 768-d + class token; original 1000-way head dropped; 4 blocks, 4 heads, width 160; A0 = sigmoid(QK^T/sqrt(dh)); 4 Euler steps dt = 0.1 with clip [0,1]; row-normalised, aggregates values; residual + bottleneck MLP; softplus per-head phi, omega; head LayerNorm, dropout 0.1, linear to 4 logits; 88.10M params). Verified in src/train_nac_vit.py: NACBlock (LayerNorm -&gt; in_proj 768-&gt;160 -&gt; qkv; head_dim 160/4 = 40; out_proj 160-&gt;768 + residual; MLP 768-&gt;160-&gt;768 GELU + residual), NACViT.forward applies NAC blocks after the full ViT encoder and classifies the CLS token; phi_raw/omega_raw zeros -&gt; softplus(0) ≈ 0.693. τ is in Euler-step units, not a membrane time constant.</a:t>
            </a:r>
          </a:p>
        </p:txBody>
      </p:sp>
      <p:sp>
        <p:nvSpPr>
          <p:cNvPr id="117" name="Google Shape;117;g3f9abc5bc8b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9abc5bc8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lang="en-US"/>
              <a:t>Sources: paper §1 (equation; saturating gate, linear leak; φ, ω positive; τ = 1/ω; not membrane potential / EEG), Methods NAC-ViT (softplus per head; 4 Euler steps Δt = 0.1, clip [0,1]), Results 'Learned neuronal parameters' + Figure 8 (init ≈ 0.693, τ ≈ 1.44 in Euler-step units; φ 0.686–0.691, ω 0.695–0.699, τ 1.430–1.440). Code: src/train_nac_vit.py NACBlock. Figure: runs/classify/nac_vit_pooled/figures/nac_dynamics.png. The A(t) curve is ILLUSTRATIVE: 4 Euler steps of the equation computed for A0 = 0.9/0.6/0.3 with φ = ω = 0.693 (initialisation values); it is not model output. Note: the paper text says τ 'summarizes their ratio' but τ = 1/ω only (code).</a:t>
            </a:r>
          </a:p>
        </p:txBody>
      </p:sp>
      <p:sp>
        <p:nvSpPr>
          <p:cNvPr id="117" name="Google Shape;117;g3f9abc5bc8b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9abc5bc8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lang="en-US"/>
              <a:t>Sources: paper Materials and Methods — Table 1 (class counts), pooled protocol (stratified 80/10/10, seed 42 → 2,609 / 325 / 330), external protocol (Testing folder 394 intact; stratified 10% of Training folder for validation), Table 2 (settings), NAC-ViT paragraph (88.10 M parameters). Cross-checked: runs/classify/nac_vit_pooled/splits.json (2609/325/330), results.json (88,098,212 params).</a:t>
            </a:r>
          </a:p>
        </p:txBody>
      </p:sp>
      <p:sp>
        <p:nvSpPr>
          <p:cNvPr id="117" name="Google Shape;117;g3f9abc5bc8b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9abc5bc8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lang="en-US"/>
              <a:t>Sources: paper Results 'Pooled test set' + Table 3 (318/330, 96.36%, Wilson 93.8–97.9%, macro F1 0.964, macro AUC 0.998; validation 97.85% at epoch 9, stopped at epoch 17 of max 40) and Figure 1. Cross-checked: runs/classify/nac_vit_pooled/results.json (test acc 0.96364, macro F1 0.96354, AUC 0.99831; val 0.97846) and history.csv (best val epoch 9). Figure: runs/classify/nac_vit_pooled/figures/training_curves.png. The validation number is a validation-set figure, not a test result.</a:t>
            </a:r>
          </a:p>
        </p:txBody>
      </p:sp>
      <p:sp>
        <p:nvSpPr>
          <p:cNvPr id="117" name="Google Shape;117;g3f9abc5bc8b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9abc5bc8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lang="en-US"/>
              <a:t>Sources: paper Table 4 (per-class metrics, pooled test n = 330), Figure 3 (confusion matrix), Table 5 and Discussion (12 errors; no-tumor class contributed no errors; six of 12 errors at predicted-class probability ≥ 0.90). Verified: runs/classify/nac_vit_pooled/results.json per_class (glioma P 0.967 R 0.936 F1 0.951 AUC 0.995; meningioma 0.949/0.979/0.964/0.999; no tumor 0.926/1.000/0.962/1.000; pituitary 1.000/0.956/0.978/1.000). Error counts read from figures/confusion_matrix.png (counts panel). Figure: runs/classify/nac_vit_pooled/figures/confusion_matrix.png.</a:t>
            </a:r>
          </a:p>
        </p:txBody>
      </p:sp>
      <p:sp>
        <p:nvSpPr>
          <p:cNvPr id="117" name="Google Shape;117;g3f9abc5bc8b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9abc5bc8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lang="en-US"/>
              <a:t>Sources: paper Table 3 (both protocols), Table 4 and Table 6 (per-class), Results 'Archive Testing folder as an external test' (309/394, 78.43%, Wilson 74.1–82.2%, macro F1 0.750, AUC 0.924; validation 99.30%; 24 of 100 gliomas correct, 76 assigned to other classes; meningioma recall 1.000 at precision 0.669), Materials and Methods (pooled split may overestimate generalization to unseen patients; Testing folder is a partial cross-collection check, not patient-level). Verified: runs/classify/nac_vit/results.json (acc 0.78426, macro F1 0.75008, AUC 0.92428, glioma P 1.0 R 0.24, best val 0.99298) and nac_vit_pooled/results.json. protocol_comparison.png deliberately NOT used (it includes the frozen-backbone 69.05% bar, not remeasured). The paper's Discussion attributes the drop to a shift between the two folders; the slide does not assert a cause.</a:t>
            </a:r>
          </a:p>
        </p:txBody>
      </p:sp>
      <p:sp>
        <p:nvSpPr>
          <p:cNvPr id="117" name="Google Shape;117;g3f9abc5bc8b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9abc5bc8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lang="en-US"/>
              <a:t>Sources: paper Detection model (YOLO11m, 640x640, 300 epochs, AdamW + cosine, no early stopping; metrics at epoch of highest mAP@0.50; no detector outputs passed to NAC-ViT; separate collections) and Table 7 (epoch 27 of 300: P 0.417, R 0.795, mAP@0.50 0.477, mAP@0.50:0.95 0.274; later epochs did not improve). Verified: runs/detect/brain_tumor_yolo/results.csv row epoch 27 (0.41652, 0.79542, 0.47664, 0.27443); args.yaml. Figures: runs/detect/brain_tumor_yolo/BoxPR_curve.png and val_batch0_pred.jpg (top 3x2 tiles cropped). DISCREPANCY: BoxPR_curve legend shows all-classes mAP@0.5 = 0.458 (Ultralytics final validation of saved weights), not 0.477 (epoch-27 training-log value). Final epoch 300 in results.csv: mAP50 0.003 (run degraded after the peak). Paper Discussion: two-stage pipeline is a design, not a measured end-to-end accuracy.</a:t>
            </a:r>
          </a:p>
        </p:txBody>
      </p:sp>
      <p:sp>
        <p:nvSpPr>
          <p:cNvPr id="117" name="Google Shape;117;g3f9abc5bc8b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9abc5bc8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lang="en-US"/>
              <a:t>Sources: paper Discussion (protocols and non-overlapping Wilson CIs; glioma recall 0.240 / precision 1.000; 12 pooled errors class-structured, 6 at p ≥ 0.90; frozen-backbone 69.05% partial ablation, gates near initialisation → backbone adaptation; detection recall &gt; precision relevant before a classifier) and limitations paragraph (single collection, no patient-level split, no second institution / MR sequence / reader study, 69.05% not repeated, two-stage pipeline is a design, multi-institutional patient-level datasets needed for clinical readiness); Statistical reporting (no cross-validation or bootstrap). Epoch-300 mAP50 0.003 from runs/detect/brain_tumor_yolo/results.csv (not stated in the paper; paper says later epochs did not improve on the peak).</a:t>
            </a:r>
          </a:p>
        </p:txBody>
      </p:sp>
      <p:sp>
        <p:nvSpPr>
          <p:cNvPr id="117" name="Google Shape;117;g3f9abc5bc8b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9abc5bc8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lang="en-US"/>
              <a:t>Sources: paper Conclusions (96.36% 318/330; 78.43% 309/394, deficit in glioma recall; gate and leak near initialisation, readable from the checkpoint; generalization needs multi-institutional validation and clinical reader studies), Table 7 (0.477 at epoch 27), Discussion (future controlled ablation without NAC; domain adaptation / multi-source training; conditions under which φ and ω diverge; end-to-end crop-then-classify not available) and limitations (multi-institutional patient-level datasets). Not included because the paper does not propose them: 'better detection' and 'prospective clinical evaluation' (paper says clinical reader studies).</a:t>
            </a:r>
          </a:p>
        </p:txBody>
      </p:sp>
      <p:sp>
        <p:nvSpPr>
          <p:cNvPr id="117" name="Google Shape;117;g3f9abc5bc8b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fabad0cd3c_1_821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g3fabad0cd3c_1_821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12" name="Google Shape;12;g3fabad0cd3c_1_82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g3fabad0cd3c_1_82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g3fabad0cd3c_1_821"/>
          <p:cNvSpPr txBox="1"/>
          <p:nvPr>
            <p:ph type="ctrTitle"/>
          </p:nvPr>
        </p:nvSpPr>
        <p:spPr>
          <a:xfrm>
            <a:off x="972600" y="1763267"/>
            <a:ext cx="10250700" cy="2219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5" name="Google Shape;15;g3fabad0cd3c_1_821"/>
          <p:cNvSpPr txBox="1"/>
          <p:nvPr>
            <p:ph idx="1" type="subTitle"/>
          </p:nvPr>
        </p:nvSpPr>
        <p:spPr>
          <a:xfrm>
            <a:off x="972837" y="4230533"/>
            <a:ext cx="10250700" cy="721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g3fabad0cd3c_1_821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g3fabad0cd3c_1_829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19" name="Google Shape;19;g3fabad0cd3c_1_82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g3fabad0cd3c_1_82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g3fabad0cd3c_1_829"/>
          <p:cNvSpPr txBox="1"/>
          <p:nvPr>
            <p:ph type="title"/>
          </p:nvPr>
        </p:nvSpPr>
        <p:spPr>
          <a:xfrm>
            <a:off x="972600" y="1763267"/>
            <a:ext cx="10251300" cy="20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g3fabad0cd3c_1_829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fabad0cd3c_1_835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g3fabad0cd3c_1_835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26" name="Google Shape;26;g3fabad0cd3c_1_8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g3fabad0cd3c_1_8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g3fabad0cd3c_1_835"/>
          <p:cNvSpPr txBox="1"/>
          <p:nvPr>
            <p:ph type="title"/>
          </p:nvPr>
        </p:nvSpPr>
        <p:spPr>
          <a:xfrm>
            <a:off x="972600" y="1758200"/>
            <a:ext cx="10251600" cy="71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29" name="Google Shape;29;g3fabad0cd3c_1_835"/>
          <p:cNvSpPr txBox="1"/>
          <p:nvPr>
            <p:ph idx="1" type="body"/>
          </p:nvPr>
        </p:nvSpPr>
        <p:spPr>
          <a:xfrm>
            <a:off x="972600" y="2771833"/>
            <a:ext cx="10251600" cy="301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0" name="Google Shape;30;g3fabad0cd3c_1_835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fabad0cd3c_1_843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g3fabad0cd3c_1_843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34" name="Google Shape;34;g3fabad0cd3c_1_84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g3fabad0cd3c_1_84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g3fabad0cd3c_1_843"/>
          <p:cNvSpPr txBox="1"/>
          <p:nvPr>
            <p:ph type="title"/>
          </p:nvPr>
        </p:nvSpPr>
        <p:spPr>
          <a:xfrm>
            <a:off x="972600" y="1758200"/>
            <a:ext cx="10251300" cy="71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37" name="Google Shape;37;g3fabad0cd3c_1_843"/>
          <p:cNvSpPr txBox="1"/>
          <p:nvPr>
            <p:ph idx="1" type="body"/>
          </p:nvPr>
        </p:nvSpPr>
        <p:spPr>
          <a:xfrm>
            <a:off x="972434" y="2771833"/>
            <a:ext cx="5032500" cy="301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8" name="Google Shape;38;g3fabad0cd3c_1_843"/>
          <p:cNvSpPr txBox="1"/>
          <p:nvPr>
            <p:ph idx="2" type="body"/>
          </p:nvPr>
        </p:nvSpPr>
        <p:spPr>
          <a:xfrm>
            <a:off x="6191471" y="2771833"/>
            <a:ext cx="5032500" cy="301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9" name="Google Shape;39;g3fabad0cd3c_1_843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fabad0cd3c_1_852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g3fabad0cd3c_1_852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43" name="Google Shape;43;g3fabad0cd3c_1_85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g3fabad0cd3c_1_85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g3fabad0cd3c_1_852"/>
          <p:cNvSpPr txBox="1"/>
          <p:nvPr>
            <p:ph type="title"/>
          </p:nvPr>
        </p:nvSpPr>
        <p:spPr>
          <a:xfrm>
            <a:off x="972600" y="1758200"/>
            <a:ext cx="10251300" cy="71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46" name="Google Shape;46;g3fabad0cd3c_1_852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fabad0cd3c_1_859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g3fabad0cd3c_1_859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50" name="Google Shape;50;g3fabad0cd3c_1_85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g3fabad0cd3c_1_85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g3fabad0cd3c_1_859"/>
          <p:cNvSpPr txBox="1"/>
          <p:nvPr>
            <p:ph type="title"/>
          </p:nvPr>
        </p:nvSpPr>
        <p:spPr>
          <a:xfrm>
            <a:off x="973333" y="1758200"/>
            <a:ext cx="4401300" cy="1842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53" name="Google Shape;53;g3fabad0cd3c_1_859"/>
          <p:cNvSpPr txBox="1"/>
          <p:nvPr>
            <p:ph idx="1" type="body"/>
          </p:nvPr>
        </p:nvSpPr>
        <p:spPr>
          <a:xfrm>
            <a:off x="961633" y="3708967"/>
            <a:ext cx="4401300" cy="2130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4" name="Google Shape;54;g3fabad0cd3c_1_859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g3fabad0cd3c_1_867"/>
          <p:cNvGrpSpPr/>
          <p:nvPr/>
        </p:nvGrpSpPr>
        <p:grpSpPr>
          <a:xfrm>
            <a:off x="1107036" y="5558926"/>
            <a:ext cx="994316" cy="61102"/>
            <a:chOff x="4580561" y="2589004"/>
            <a:chExt cx="1064464" cy="25200"/>
          </a:xfrm>
        </p:grpSpPr>
        <p:sp>
          <p:nvSpPr>
            <p:cNvPr id="57" name="Google Shape;57;g3fabad0cd3c_1_86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g3fabad0cd3c_1_86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g3fabad0cd3c_1_867"/>
          <p:cNvSpPr txBox="1"/>
          <p:nvPr>
            <p:ph type="title"/>
          </p:nvPr>
        </p:nvSpPr>
        <p:spPr>
          <a:xfrm>
            <a:off x="972600" y="1152400"/>
            <a:ext cx="9361500" cy="3980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g3fabad0cd3c_1_867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abad0cd3c_1_873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g3fabad0cd3c_1_873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64" name="Google Shape;64;g3fabad0cd3c_1_87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g3fabad0cd3c_1_87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g3fabad0cd3c_1_873"/>
          <p:cNvSpPr txBox="1"/>
          <p:nvPr>
            <p:ph type="title"/>
          </p:nvPr>
        </p:nvSpPr>
        <p:spPr>
          <a:xfrm>
            <a:off x="973333" y="1758200"/>
            <a:ext cx="4401300" cy="2249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67" name="Google Shape;67;g3fabad0cd3c_1_873"/>
          <p:cNvSpPr txBox="1"/>
          <p:nvPr>
            <p:ph idx="1" type="subTitle"/>
          </p:nvPr>
        </p:nvSpPr>
        <p:spPr>
          <a:xfrm>
            <a:off x="966600" y="4215367"/>
            <a:ext cx="4401300" cy="1011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8" name="Google Shape;68;g3fabad0cd3c_1_873"/>
          <p:cNvSpPr txBox="1"/>
          <p:nvPr>
            <p:ph idx="2" type="body"/>
          </p:nvPr>
        </p:nvSpPr>
        <p:spPr>
          <a:xfrm>
            <a:off x="6898967" y="1803500"/>
            <a:ext cx="4499100" cy="4034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69" name="Google Shape;69;g3fabad0cd3c_1_873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abad0cd3c_1_882"/>
          <p:cNvSpPr txBox="1"/>
          <p:nvPr>
            <p:ph idx="1" type="body"/>
          </p:nvPr>
        </p:nvSpPr>
        <p:spPr>
          <a:xfrm>
            <a:off x="966600" y="5830068"/>
            <a:ext cx="10263300" cy="614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/>
        </p:txBody>
      </p:sp>
      <p:sp>
        <p:nvSpPr>
          <p:cNvPr id="72" name="Google Shape;72;g3fabad0cd3c_1_882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g3fabad0cd3c_1_885"/>
          <p:cNvGrpSpPr/>
          <p:nvPr/>
        </p:nvGrpSpPr>
        <p:grpSpPr>
          <a:xfrm>
            <a:off x="1107036" y="5558926"/>
            <a:ext cx="994316" cy="61102"/>
            <a:chOff x="4580561" y="2589004"/>
            <a:chExt cx="1064464" cy="25200"/>
          </a:xfrm>
        </p:grpSpPr>
        <p:sp>
          <p:nvSpPr>
            <p:cNvPr id="75" name="Google Shape;75;g3fabad0cd3c_1_88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g3fabad0cd3c_1_88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g3fabad0cd3c_1_885"/>
          <p:cNvSpPr txBox="1"/>
          <p:nvPr>
            <p:ph hasCustomPrompt="1" type="title"/>
          </p:nvPr>
        </p:nvSpPr>
        <p:spPr>
          <a:xfrm>
            <a:off x="972600" y="978600"/>
            <a:ext cx="10251300" cy="1659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g3fabad0cd3c_1_885"/>
          <p:cNvSpPr txBox="1"/>
          <p:nvPr>
            <p:ph idx="1" type="body"/>
          </p:nvPr>
        </p:nvSpPr>
        <p:spPr>
          <a:xfrm>
            <a:off x="972600" y="3030517"/>
            <a:ext cx="10251300" cy="2107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g3fabad0cd3c_1_885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abad0cd3c_1_892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abad0cd3c_1_894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g3fabad0cd3c_1_894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5" name="Google Shape;85;g3fabad0cd3c_1_89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g3fabad0cd3c_1_89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g3fabad0cd3c_1_89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abad0cd3c_1_90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g3fabad0cd3c_1_90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g3fabad0cd3c_1_90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g3fabad0cd3c_1_90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g3fabad0cd3c_1_90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Conference Logo.PNG" id="94" name="Google Shape;94;g3fabad0cd3c_1_90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92900" y="64950"/>
            <a:ext cx="1034150" cy="70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g3fabad0cd3c_1_9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925" y="64950"/>
            <a:ext cx="788700" cy="79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fabad0cd3c_1_817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g3fabad0cd3c_1_817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Lato"/>
              <a:buChar char="●"/>
              <a:defRPr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238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238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238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238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238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238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238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g3fabad0cd3c_1_817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G31" Type="http://schemas.openxmlformats.org/officeDocument/2006/relationships/image" Target="../media/g3img1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G32" Type="http://schemas.openxmlformats.org/officeDocument/2006/relationships/image" Target="../media/g3img2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G31" Type="http://schemas.openxmlformats.org/officeDocument/2006/relationships/image" Target="../media/g4img1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G32" Type="http://schemas.openxmlformats.org/officeDocument/2006/relationships/image" Target="../media/g4img2.png"/><Relationship Id="rIdG33" Type="http://schemas.openxmlformats.org/officeDocument/2006/relationships/image" Target="../media/g4img3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abad0cd3c_1_6"/>
          <p:cNvSpPr/>
          <p:nvPr/>
        </p:nvSpPr>
        <p:spPr>
          <a:xfrm rot="5400000">
            <a:off x="5387325" y="-5387400"/>
            <a:ext cx="1425600" cy="12200400"/>
          </a:xfrm>
          <a:prstGeom prst="rect">
            <a:avLst/>
          </a:prstGeom>
          <a:solidFill>
            <a:srgbClr val="091852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g3fabad0cd3c_1_6"/>
          <p:cNvSpPr/>
          <p:nvPr/>
        </p:nvSpPr>
        <p:spPr>
          <a:xfrm flipH="1" rot="5400000">
            <a:off x="6041625" y="-4658050"/>
            <a:ext cx="105300" cy="12212100"/>
          </a:xfrm>
          <a:prstGeom prst="rect">
            <a:avLst/>
          </a:prstGeom>
          <a:solidFill>
            <a:srgbClr val="00967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g3fabad0cd3c_1_6"/>
          <p:cNvSpPr txBox="1"/>
          <p:nvPr/>
        </p:nvSpPr>
        <p:spPr>
          <a:xfrm>
            <a:off x="541324" y="4160520"/>
            <a:ext cx="11125504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2200" b="1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Bhavesh C Kataria</a:t>
            </a:r>
          </a:p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Associate Professor, School of Computing and Technology</a:t>
            </a:r>
          </a:p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Institute of Advanced Research, Gandhinagar, Gujarat, India</a:t>
            </a:r>
          </a:p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1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bhavesh.iisc@gmail.com</a:t>
            </a:r>
          </a:p>
        </p:txBody>
      </p:sp>
      <p:sp>
        <p:nvSpPr>
          <p:cNvPr id="103" name="Google Shape;103;g3fabad0cd3c_1_6"/>
          <p:cNvSpPr txBox="1"/>
          <p:nvPr/>
        </p:nvSpPr>
        <p:spPr>
          <a:xfrm>
            <a:off x="7625" y="66300"/>
            <a:ext cx="12192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096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INTERNATIONAL CONFERENCE ON INTELLIGENT, SECURED AND HUMAN-CENTERED TECHNOLOGIES (ICISHCT 2026)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g3fabad0cd3c_1_6"/>
          <p:cNvSpPr txBox="1"/>
          <p:nvPr/>
        </p:nvSpPr>
        <p:spPr>
          <a:xfrm>
            <a:off x="541025" y="2487237"/>
            <a:ext cx="111252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NAC-ViT: Neuronal Attention Circuit Vision Transformer for Brain Tumor Classification and Detection in MRI</a:t>
            </a:r>
          </a:p>
        </p:txBody>
      </p:sp>
      <p:sp>
        <p:nvSpPr>
          <p:cNvPr id="105" name="Google Shape;105;g3fabad0cd3c_1_6"/>
          <p:cNvSpPr/>
          <p:nvPr/>
        </p:nvSpPr>
        <p:spPr>
          <a:xfrm>
            <a:off x="914424" y="5943600"/>
            <a:ext cx="10363200" cy="18300"/>
          </a:xfrm>
          <a:prstGeom prst="rect">
            <a:avLst/>
          </a:prstGeom>
          <a:solidFill>
            <a:srgbClr val="0096A6"/>
          </a:solidFill>
          <a:ln cap="flat" cmpd="sng" w="9525">
            <a:solidFill>
              <a:srgbClr val="0096A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g3fabad0cd3c_1_6"/>
          <p:cNvSpPr txBox="1"/>
          <p:nvPr/>
        </p:nvSpPr>
        <p:spPr>
          <a:xfrm>
            <a:off x="914424" y="6080760"/>
            <a:ext cx="10363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SCT, IAR University  •  2</a:t>
            </a:r>
            <a:r>
              <a:rPr b="1" lang="en-US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b="1" i="0" lang="en-US" u="none" cap="none" strike="noStrike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</a:t>
            </a:r>
            <a:r>
              <a:rPr b="1" lang="en-US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</a:t>
            </a:r>
            <a:r>
              <a:rPr b="1" i="0" lang="en-US" u="none" cap="none" strike="noStrike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October</a:t>
            </a:r>
            <a:r>
              <a:rPr b="1" i="0" lang="en-US" u="none" cap="none" strike="noStrike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2026</a:t>
            </a:r>
            <a:endParaRPr>
              <a:solidFill>
                <a:srgbClr val="09185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g3fabad0cd3c_1_6"/>
          <p:cNvSpPr/>
          <p:nvPr/>
        </p:nvSpPr>
        <p:spPr>
          <a:xfrm>
            <a:off x="328269" y="1807768"/>
            <a:ext cx="2834640" cy="481888"/>
          </a:xfrm>
          <a:prstGeom prst="roundRect">
            <a:avLst>
              <a:gd fmla="val 16667" name="adj"/>
            </a:avLst>
          </a:prstGeom>
          <a:solidFill>
            <a:srgbClr val="0096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marL="0" indent="0" algn="l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PAPER ID: T2_PM_009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70d7ea8dc_0_12"/>
          <p:cNvSpPr txBox="1"/>
          <p:nvPr>
            <p:ph type="title"/>
          </p:nvPr>
        </p:nvSpPr>
        <p:spPr>
          <a:xfrm>
            <a:off x="1751650" y="150695"/>
            <a:ext cx="8229600" cy="675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Background &amp; Motivation</a:t>
            </a:r>
          </a:p>
        </p:txBody>
      </p:sp>
      <p:sp>
        <p:nvSpPr>
          <p:cNvPr id="114" name="Google Shape;114;g3f70d7ea8dc_0_12"/>
          <p:cNvSpPr txBox="1"/>
          <p:nvPr>
            <p:ph idx="1" type="body"/>
          </p:nvPr>
        </p:nvSpPr>
        <p:spPr>
          <a:xfrm>
            <a:off x="525780" y="1188720"/>
            <a:ext cx="11137392" cy="3429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marL="342900" indent="-342900" algn="l" rtl="0" lvl="0">
              <a:spcBef>
                <a:spcPts val="0"/>
              </a:spcBef>
              <a:spcAft>
                <a:spcPts val="1000"/>
              </a:spcAft>
              <a:buClr>
                <a:srgbClr val="0096A6"/>
              </a:buClr>
              <a:buFont typeface="Arial"/>
              <a:buChar char="•"/>
            </a:pPr>
            <a:r>
              <a:rPr lang="en-US" sz="22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MRI is the principal noninvasive examination for characterizing brain tumors.</a:t>
            </a:r>
          </a:p>
          <a:p>
            <a:pPr marL="342900" indent="-342900" algn="l" rtl="0" lvl="0">
              <a:spcBef>
                <a:spcPts val="0"/>
              </a:spcBef>
              <a:spcAft>
                <a:spcPts val="1000"/>
              </a:spcAft>
              <a:buClr>
                <a:srgbClr val="0096A6"/>
              </a:buClr>
              <a:buFont typeface="Arial"/>
              <a:buChar char="•"/>
            </a:pPr>
            <a:r>
              <a:rPr lang="en-US" sz="22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four classes differ in location, contrast enhancement and margin, </a:t>
            </a:r>
            <a:r>
              <a:rPr lang="en-US" sz="2200" b="1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yet overlap on single-sequence images.</a:t>
            </a:r>
          </a:p>
          <a:p>
            <a:pPr marL="342900" indent="-342900" algn="l" rtl="0" lvl="0">
              <a:spcBef>
                <a:spcPts val="0"/>
              </a:spcBef>
              <a:spcAft>
                <a:spcPts val="1000"/>
              </a:spcAft>
              <a:buClr>
                <a:srgbClr val="0096A6"/>
              </a:buClr>
              <a:buFont typeface="Arial"/>
              <a:buChar char="•"/>
            </a:pPr>
            <a:r>
              <a:rPr lang="en-US" sz="22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Reported accuracies are not directly comparable: the backbone may be frozen or fine-tuned, and test images may come from the training collection.</a:t>
            </a:r>
          </a:p>
          <a:p>
            <a:pPr marL="342900" indent="-342900" algn="l" rtl="0" lvl="0">
              <a:spcBef>
                <a:spcPts val="0"/>
              </a:spcBef>
              <a:spcAft>
                <a:spcPts val="1000"/>
              </a:spcAft>
              <a:buClr>
                <a:srgbClr val="0096A6"/>
              </a:buClr>
              <a:buFont typeface="Arial"/>
              <a:buChar char="•"/>
            </a:pPr>
            <a:r>
              <a:rPr lang="en-US" sz="22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 ViT attention is formed in one step (softmax of query–key products); NAC-ViT instead advances an attention state with a short logistic ODE:  </a:t>
            </a:r>
            <a:r>
              <a:rPr lang="en-US" sz="2200" b="1" i="1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dA/dt = φA(1 − A) − ωA</a:t>
            </a:r>
            <a:r>
              <a:rPr lang="en-US" sz="22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(saturating gate φ, linear leak ω).</a:t>
            </a:r>
          </a:p>
        </p:txBody>
      </p:sp>
      <p:sp>
        <p:nvSpPr>
          <p:cNvPr id="115" name="g1 class caption"/>
          <p:cNvSpPr txBox="1"/>
          <p:nvPr/>
        </p:nvSpPr>
        <p:spPr>
          <a:xfrm>
            <a:off x="525780" y="4846320"/>
            <a:ext cx="11137392" cy="384048"/>
          </a:xfrm>
          <a:prstGeom prst="rect">
            <a:avLst/>
          </a:prstGeom>
          <a:noFill/>
          <a:ln w="19050">
            <a:noFill/>
          </a:ln>
        </p:spPr>
        <p:txBody>
          <a:bodyPr wrap="square" lIns="91425" tIns="45700" rIns="91425" bIns="45700" anchor="t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96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Four-class task · 3,264 public brain MR images</a:t>
            </a:r>
          </a:p>
        </p:txBody>
      </p:sp>
      <p:sp>
        <p:nvSpPr>
          <p:cNvPr id="116" name="g1 class 1"/>
          <p:cNvSpPr txBox="1"/>
          <p:nvPr/>
        </p:nvSpPr>
        <p:spPr>
          <a:xfrm>
            <a:off x="929944" y="5303520"/>
            <a:ext cx="2377440" cy="566928"/>
          </a:xfrm>
          <a:prstGeom prst="roundRect">
            <a:avLst/>
          </a:prstGeom>
          <a:noFill/>
          <a:ln w="19050">
            <a:solidFill>
              <a:srgbClr val="0096A6"/>
            </a:solidFill>
          </a:ln>
        </p:spPr>
        <p:txBody>
          <a:bodyPr wrap="square" lIns="91425" tIns="45700" rIns="91425" bIns="45700" anchor="ctr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Glioma</a:t>
            </a:r>
          </a:p>
        </p:txBody>
      </p:sp>
      <p:sp>
        <p:nvSpPr>
          <p:cNvPr id="117" name="g1 class 2"/>
          <p:cNvSpPr txBox="1"/>
          <p:nvPr/>
        </p:nvSpPr>
        <p:spPr>
          <a:xfrm>
            <a:off x="3581704" y="5303520"/>
            <a:ext cx="2377440" cy="566928"/>
          </a:xfrm>
          <a:prstGeom prst="roundRect">
            <a:avLst/>
          </a:prstGeom>
          <a:noFill/>
          <a:ln w="19050">
            <a:solidFill>
              <a:srgbClr val="0096A6"/>
            </a:solidFill>
          </a:ln>
        </p:spPr>
        <p:txBody>
          <a:bodyPr wrap="square" lIns="91425" tIns="45700" rIns="91425" bIns="45700" anchor="ctr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Meningioma</a:t>
            </a:r>
          </a:p>
        </p:txBody>
      </p:sp>
      <p:sp>
        <p:nvSpPr>
          <p:cNvPr id="118" name="g1 class 3"/>
          <p:cNvSpPr txBox="1"/>
          <p:nvPr/>
        </p:nvSpPr>
        <p:spPr>
          <a:xfrm>
            <a:off x="6233464" y="5303520"/>
            <a:ext cx="2377440" cy="566928"/>
          </a:xfrm>
          <a:prstGeom prst="roundRect">
            <a:avLst/>
          </a:prstGeom>
          <a:noFill/>
          <a:ln w="19050">
            <a:solidFill>
              <a:srgbClr val="0096A6"/>
            </a:solidFill>
          </a:ln>
        </p:spPr>
        <p:txBody>
          <a:bodyPr wrap="square" lIns="91425" tIns="45700" rIns="91425" bIns="45700" anchor="ctr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Pituitary tumor</a:t>
            </a:r>
          </a:p>
        </p:txBody>
      </p:sp>
      <p:sp>
        <p:nvSpPr>
          <p:cNvPr id="119" name="g1 class 4"/>
          <p:cNvSpPr txBox="1"/>
          <p:nvPr/>
        </p:nvSpPr>
        <p:spPr>
          <a:xfrm>
            <a:off x="8885224" y="5303520"/>
            <a:ext cx="2377440" cy="566928"/>
          </a:xfrm>
          <a:prstGeom prst="roundRect">
            <a:avLst/>
          </a:prstGeom>
          <a:noFill/>
          <a:ln w="19050">
            <a:solidFill>
              <a:srgbClr val="0096A6"/>
            </a:solidFill>
          </a:ln>
        </p:spPr>
        <p:txBody>
          <a:bodyPr wrap="square" lIns="91425" tIns="45700" rIns="91425" bIns="45700" anchor="ctr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tumor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9abc5bc8b_0_0"/>
          <p:cNvSpPr txBox="1"/>
          <p:nvPr>
            <p:ph type="title"/>
          </p:nvPr>
        </p:nvSpPr>
        <p:spPr>
          <a:xfrm>
            <a:off x="1808100" y="0"/>
            <a:ext cx="8229600" cy="853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Gap &amp; Objectives</a:t>
            </a:r>
          </a:p>
        </p:txBody>
      </p:sp>
      <p:sp>
        <p:nvSpPr>
          <p:cNvPr id="120" name="Google Shape;120;g3f9abc5bc8b_0_0"/>
          <p:cNvSpPr txBox="1"/>
          <p:nvPr>
            <p:ph idx="1" type="body"/>
          </p:nvPr>
        </p:nvSpPr>
        <p:spPr>
          <a:xfrm>
            <a:off x="457200" y="1188720"/>
            <a:ext cx="5394960" cy="393192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marL="0" indent="0" algn="l" rtl="0" lvl="0"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400" b="1">
                <a:solidFill>
                  <a:srgbClr val="0096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gap</a:t>
            </a:r>
          </a:p>
          <a:p>
            <a:pPr marL="285750" indent="-285750" algn="l" rtl="0" lvl="0">
              <a:spcBef>
                <a:spcPts val="0"/>
              </a:spcBef>
              <a:spcAft>
                <a:spcPts val="1000"/>
              </a:spcAft>
              <a:buClr>
                <a:srgbClr val="0096A6"/>
              </a:buClr>
              <a:buFont typeface="Arial"/>
              <a:buChar char="•"/>
            </a:pPr>
            <a:r>
              <a:rPr lang="en-US" sz="20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Four-class MRI accuracies across studies are not directly comparable.</a:t>
            </a:r>
          </a:p>
          <a:p>
            <a:pPr marL="285750" indent="-285750" algn="l" rtl="0" lvl="0">
              <a:spcBef>
                <a:spcPts val="0"/>
              </a:spcBef>
              <a:spcAft>
                <a:spcPts val="1000"/>
              </a:spcAft>
              <a:buClr>
                <a:srgbClr val="0096A6"/>
              </a:buClr>
              <a:buFont typeface="Arial"/>
              <a:buChar char="•"/>
            </a:pPr>
            <a:r>
              <a:rPr lang="en-US" sz="20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Protocols differ: backbone frozen vs fine-tuned; test set drawn from the same collection or not.</a:t>
            </a:r>
          </a:p>
          <a:p>
            <a:pPr marL="285750" indent="-285750" algn="l" rtl="0" lvl="0">
              <a:spcBef>
                <a:spcPts val="0"/>
              </a:spcBef>
              <a:spcAft>
                <a:spcPts val="1000"/>
              </a:spcAft>
              <a:buClr>
                <a:srgbClr val="0096A6"/>
              </a:buClr>
              <a:buFont typeface="Arial"/>
              <a:buChar char="•"/>
            </a:pPr>
            <a:r>
              <a:rPr lang="en-US" sz="20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NAC blocks were earlier trained only on a </a:t>
            </a:r>
            <a:r>
              <a:rPr lang="en-US" sz="2000" b="1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frozen</a:t>
            </a:r>
            <a:r>
              <a:rPr lang="en-US" sz="20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ViT backbone (69.05%, not reproduced here).</a:t>
            </a:r>
          </a:p>
          <a:p>
            <a:pPr marL="285750" indent="-285750" algn="l" rtl="0" lvl="0">
              <a:spcBef>
                <a:spcPts val="0"/>
              </a:spcBef>
              <a:spcAft>
                <a:spcPts val="1000"/>
              </a:spcAft>
              <a:buClr>
                <a:srgbClr val="0096A6"/>
              </a:buClr>
              <a:buFont typeface="Arial"/>
              <a:buChar char="•"/>
            </a:pPr>
            <a:r>
              <a:rPr lang="en-US" sz="20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Gate drift (φ, ω) under full fine-tuning had not been measured.</a:t>
            </a:r>
          </a:p>
        </p:txBody>
      </p:sp>
      <p:sp>
        <p:nvSpPr>
          <p:cNvPr id="121" name="g1 divider"/>
          <p:cNvSpPr txBox="1"/>
          <p:nvPr/>
        </p:nvSpPr>
        <p:spPr>
          <a:xfrm>
            <a:off x="6053328" y="1280160"/>
            <a:ext cx="27432" cy="3703320"/>
          </a:xfrm>
          <a:prstGeom prst="rect">
            <a:avLst/>
          </a:prstGeom>
          <a:solidFill>
            <a:srgbClr val="0096A6"/>
          </a:solidFill>
          <a:ln w="19050">
            <a:noFill/>
          </a:ln>
        </p:spPr>
        <p:txBody>
          <a:bodyPr wrap="square" lIns="91425" tIns="45700" rIns="91425" bIns="45700" anchor="t" rtlCol="0">
            <a:noAutofit/>
          </a:bodyPr>
          <a:lstStyle/>
          <a:p>
            <a:pPr marL="0" indent="0" algn="l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</a:p>
        </p:txBody>
      </p:sp>
      <p:sp>
        <p:nvSpPr>
          <p:cNvPr id="122" name="g1 objectives"/>
          <p:cNvSpPr txBox="1"/>
          <p:nvPr/>
        </p:nvSpPr>
        <p:spPr>
          <a:xfrm>
            <a:off x="6263640" y="1188720"/>
            <a:ext cx="5486400" cy="3931920"/>
          </a:xfrm>
          <a:prstGeom prst="rect">
            <a:avLst/>
          </a:prstGeom>
          <a:noFill/>
          <a:ln w="19050">
            <a:noFill/>
          </a:ln>
        </p:spPr>
        <p:txBody>
          <a:bodyPr wrap="square" lIns="91425" tIns="45700" rIns="91425" bIns="45700" anchor="t" rtlCol="0">
            <a:noAutofit/>
          </a:bodyPr>
          <a:lstStyle/>
          <a:p>
            <a:pPr marL="0" indent="0" algn="l" rtl="0" lvl="0"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400" b="1">
                <a:solidFill>
                  <a:srgbClr val="0096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 — three questions</a:t>
            </a:r>
          </a:p>
          <a:p>
            <a:pPr marL="571500" indent="-571500" algn="l" rtl="0" lv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000" b="1">
                <a:solidFill>
                  <a:srgbClr val="0096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Q1	</a:t>
            </a:r>
            <a:r>
              <a:rPr lang="en-US" sz="20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Accuracy on a stratified 80/10/10 split of all 3,264 images (seed 42)?</a:t>
            </a:r>
          </a:p>
          <a:p>
            <a:pPr marL="571500" indent="-571500" algn="l" rtl="0" lv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000" b="1">
                <a:solidFill>
                  <a:srgbClr val="0096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Q2	</a:t>
            </a:r>
            <a:r>
              <a:rPr lang="en-US" sz="20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Accuracy when the archive’s Testing folder is held out as an external test set?</a:t>
            </a:r>
          </a:p>
          <a:p>
            <a:pPr marL="571500" indent="-571500" algn="l" rtl="0" lv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000" b="1">
                <a:solidFill>
                  <a:srgbClr val="0096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Q3	</a:t>
            </a:r>
            <a:r>
              <a:rPr lang="en-US" sz="20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 the learned gates drift from their initial values, and do residual errors show a class-specific pattern?</a:t>
            </a:r>
          </a:p>
        </p:txBody>
      </p:sp>
      <p:sp>
        <p:nvSpPr>
          <p:cNvPr id="123" name="g1 this work"/>
          <p:cNvSpPr txBox="1"/>
          <p:nvPr/>
        </p:nvSpPr>
        <p:spPr>
          <a:xfrm>
            <a:off x="548640" y="5257800"/>
            <a:ext cx="11091672" cy="658368"/>
          </a:xfrm>
          <a:prstGeom prst="roundRect">
            <a:avLst/>
          </a:prstGeom>
          <a:noFill/>
          <a:ln w="19050">
            <a:solidFill>
              <a:srgbClr val="0096A6"/>
            </a:solidFill>
          </a:ln>
        </p:spPr>
        <p:txBody>
          <a:bodyPr wrap="square" lIns="91425" tIns="45700" rIns="91425" bIns="45700" anchor="ctr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96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work: </a:t>
            </a:r>
            <a:r>
              <a:rPr lang="en-US" sz="18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ViT-B/16 backbone and four NAC blocks fine-tuned jointly; both evaluation protocols fixed before test labels were inspected.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85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/>
          <p:nvPr/>
        </p:nvSpPr>
        <p:spPr>
          <a:xfrm>
            <a:off x="0" y="0"/>
            <a:ext cx="12191700" cy="91500"/>
          </a:xfrm>
          <a:prstGeom prst="rect">
            <a:avLst/>
          </a:prstGeom>
          <a:solidFill>
            <a:srgbClr val="00967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914400" y="2457857"/>
            <a:ext cx="10332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914400" y="3182112"/>
            <a:ext cx="1033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CDE8F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Questions &amp; Discussion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4709160" y="3913632"/>
            <a:ext cx="2788920" cy="50292"/>
          </a:xfrm>
          <a:prstGeom prst="rect">
            <a:avLst/>
          </a:prstGeom>
          <a:solidFill>
            <a:srgbClr val="00967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914400" y="6035040"/>
            <a:ext cx="103326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i="0" lang="en-US" sz="950" u="none" cap="none" strike="noStrike">
                <a:solidFill>
                  <a:srgbClr val="B9CDD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ICISHCT 2026  •  International Conference on Intelligent, Secure and Human-Centered Technologies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5 contact"/>
          <p:cNvSpPr txBox="1"/>
          <p:nvPr/>
        </p:nvSpPr>
        <p:spPr>
          <a:xfrm>
            <a:off x="914400" y="4160520"/>
            <a:ext cx="10332720" cy="384048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Bhavesh C Kataria  ·  bhavesh.iisc@gmail.com</a:t>
            </a:r>
          </a:p>
        </p:txBody>
      </p:sp>
      <p:sp>
        <p:nvSpPr>
          <p:cNvPr id="131" name="g5 code"/>
          <p:cNvSpPr txBox="1"/>
          <p:nvPr/>
        </p:nvSpPr>
        <p:spPr>
          <a:xfrm>
            <a:off x="914400" y="4572000"/>
            <a:ext cx="10332720" cy="329184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CDE8F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Code: https://github.com/kbhavesh-emory/NAC-ViT-Brain-Tumor-Classification</a:t>
            </a:r>
          </a:p>
        </p:txBody>
      </p:sp>
      <p:sp>
        <p:nvSpPr>
          <p:cNvPr id="132" name="g5 ack"/>
          <p:cNvSpPr txBox="1"/>
          <p:nvPr/>
        </p:nvSpPr>
        <p:spPr>
          <a:xfrm>
            <a:off x="914400" y="5120640"/>
            <a:ext cx="10332720" cy="548640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7FD3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Acknowledgment: </a:t>
            </a:r>
            <a:r>
              <a:rPr lang="en-US" sz="1300">
                <a:solidFill>
                  <a:srgbClr val="CDE8F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 was performed on PARAM Shavak at IAR University. The author thanks the maintainers of the public MRI archives used here.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9abc5bc8b_0_0"/>
          <p:cNvSpPr txBox="1"/>
          <p:nvPr>
            <p:ph type="title"/>
          </p:nvPr>
        </p:nvSpPr>
        <p:spPr>
          <a:xfrm>
            <a:off x="1808100" y="0"/>
            <a:ext cx="8229600" cy="853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Contributions</a:t>
            </a:r>
          </a:p>
        </p:txBody>
      </p:sp>
      <p:graphicFrame>
        <p:nvGraphicFramePr>
          <p:cNvPr id="120" name="g2 contributions table"/>
          <p:cNvGraphicFramePr>
            <a:graphicFrameLocks noGrp="1"/>
          </p:cNvGraphicFramePr>
          <p:nvPr/>
        </p:nvGraphicFramePr>
        <p:xfrm>
          <a:off x="521207" y="1188720"/>
          <a:ext cx="11155680" cy="4343400"/>
        </p:xfrm>
        <a:graphic>
          <a:graphicData uri="http://schemas.openxmlformats.org/drawingml/2006/table">
            <a:tbl>
              <a:tblPr firstRow="1" bandRow="1"/>
              <a:tblGrid>
                <a:gridCol w="5577840"/>
                <a:gridCol w="5577840"/>
              </a:tblGrid>
              <a:tr h="502920">
                <a:tc>
                  <a:txBody>
                    <a:bodyPr/>
                    <a:lstStyle/>
                    <a:p>
                      <a:pPr marL="0" indent="0" algn="ctr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Implemented &amp; measured in this paper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0918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Future work (not measured)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0096A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marL="0" indent="0" algn="l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NAC-ViT: fine-tuned ViT-B/16 + four logistic-ODE attention blocks (88.10 M parameters)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EA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Controlled ablation: fine-tuned ViT-B/16 without NAC blocks, same splits and seeds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EAF5F7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marL="0" indent="0" algn="l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Two protocols fixed before test labels were seen: pooled 80/10/10 split and archive Testing folder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Domain-shift mitigation (domain adaptation, multi-source training)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marL="0" indent="0" algn="l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Learned gate φ, leak ω and τ = 1/ω read from the checkpoint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EA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Multi-institutional, patient-level validation and clinical reader studies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EAF5F7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marL="0" indent="0" algn="l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All 12 pooled-test errors reported in full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marL="0" indent="0" algn="l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YOLO11m detector trained separately on a separate collection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EA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End-to-end detect → classify pipeline (design only, not measured)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EAF5F7"/>
                    </a:solidFill>
                  </a:tcPr>
                </a:tc>
              </a:tr>
            </a:tbl>
          </a:graphicData>
        </a:graphic>
      </p:graphicFrame>
      <p:sp>
        <p:nvSpPr>
          <p:cNvPr id="121" name="g2 caption"/>
          <p:cNvSpPr txBox="1"/>
          <p:nvPr/>
        </p:nvSpPr>
        <p:spPr>
          <a:xfrm>
            <a:off x="521207" y="5715000"/>
            <a:ext cx="11155680" cy="365760"/>
          </a:xfrm>
          <a:prstGeom prst="rect">
            <a:avLst/>
          </a:prstGeom>
          <a:noFill/>
          <a:ln w="19050">
            <a:noFill/>
          </a:ln>
        </p:spPr>
        <p:txBody>
          <a:bodyPr wrap="square" lIns="91425" tIns="45700" rIns="91425" bIns="45700" anchor="t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1">
                <a:solidFill>
                  <a:srgbClr val="0096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Detection and classification were trained on different collections and are reported as separate measurements.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9abc5bc8b_0_0"/>
          <p:cNvSpPr txBox="1"/>
          <p:nvPr>
            <p:ph type="title"/>
          </p:nvPr>
        </p:nvSpPr>
        <p:spPr>
          <a:xfrm>
            <a:off x="1808100" y="0"/>
            <a:ext cx="8229600" cy="853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 Workflow</a:t>
            </a:r>
          </a:p>
        </p:txBody>
      </p:sp>
      <p:sp>
        <p:nvSpPr>
          <p:cNvPr id="120" name="g2 lane label A"/>
          <p:cNvSpPr txBox="1"/>
          <p:nvPr/>
        </p:nvSpPr>
        <p:spPr>
          <a:xfrm>
            <a:off x="429768" y="960120"/>
            <a:ext cx="7315200" cy="365760"/>
          </a:xfrm>
          <a:prstGeom prst="rect">
            <a:avLst/>
          </a:prstGeom>
          <a:noFill/>
          <a:ln w="19050">
            <a:noFill/>
          </a:ln>
        </p:spPr>
        <p:txBody>
          <a:bodyPr wrap="square" lIns="91425" tIns="45700" rIns="91425" bIns="45700" anchor="t" rtlCol="0">
            <a:noAutofit/>
          </a:bodyPr>
          <a:lstStyle/>
          <a:p>
            <a:pPr marL="0" indent="0" algn="l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0096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Classification branch — NAC-ViT (both protocols)</a:t>
            </a:r>
          </a:p>
        </p:txBody>
      </p:sp>
      <p:sp>
        <p:nvSpPr>
          <p:cNvPr id="121" name="g2 step 1 head"/>
          <p:cNvSpPr txBox="1"/>
          <p:nvPr/>
        </p:nvSpPr>
        <p:spPr>
          <a:xfrm>
            <a:off x="429768" y="1371600"/>
            <a:ext cx="2011680" cy="502920"/>
          </a:xfrm>
          <a:prstGeom prst="rect">
            <a:avLst/>
          </a:prstGeom>
          <a:solidFill>
            <a:srgbClr val="091852"/>
          </a:solidFill>
          <a:ln w="19050"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</a:t>
            </a:r>
          </a:p>
        </p:txBody>
      </p:sp>
      <p:sp>
        <p:nvSpPr>
          <p:cNvPr id="122" name="g2 step 1 body"/>
          <p:cNvSpPr txBox="1"/>
          <p:nvPr/>
        </p:nvSpPr>
        <p:spPr>
          <a:xfrm>
            <a:off x="429768" y="1874519"/>
            <a:ext cx="2011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91852"/>
            </a:solidFill>
          </a:ln>
        </p:spPr>
        <p:txBody>
          <a:bodyPr wrap="square" lIns="73152" tIns="73152" rIns="73152" bIns="73152" anchor="t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45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3,264 public MR images</a:t>
            </a:r>
          </a:p>
          <a:p>
            <a:pPr marL="0" indent="0" algn="ctr" rtl="0" lvl="0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45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classes (Bhuvaji et al.)</a:t>
            </a:r>
          </a:p>
          <a:p>
            <a:pPr marL="0" indent="0" algn="ctr" rtl="0" lvl="0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45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 / Testing folders</a:t>
            </a:r>
          </a:p>
        </p:txBody>
      </p:sp>
      <p:sp>
        <p:nvSpPr>
          <p:cNvPr id="123" name="g2 arrow 1"/>
          <p:cNvSpPr txBox="1"/>
          <p:nvPr/>
        </p:nvSpPr>
        <p:spPr>
          <a:xfrm>
            <a:off x="2496312" y="2514600"/>
            <a:ext cx="210311" cy="365760"/>
          </a:xfrm>
          <a:prstGeom prst="rightArrow">
            <a:avLst/>
          </a:prstGeom>
          <a:solidFill>
            <a:srgbClr val="0096A6"/>
          </a:solidFill>
          <a:ln w="19050"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l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</a:p>
        </p:txBody>
      </p:sp>
      <p:sp>
        <p:nvSpPr>
          <p:cNvPr id="124" name="g2 step 2 head"/>
          <p:cNvSpPr txBox="1"/>
          <p:nvPr/>
        </p:nvSpPr>
        <p:spPr>
          <a:xfrm>
            <a:off x="2761488" y="1371600"/>
            <a:ext cx="2011680" cy="502920"/>
          </a:xfrm>
          <a:prstGeom prst="rect">
            <a:avLst/>
          </a:prstGeom>
          <a:solidFill>
            <a:srgbClr val="091852"/>
          </a:solidFill>
          <a:ln w="19050"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Preprocessing</a:t>
            </a:r>
          </a:p>
        </p:txBody>
      </p:sp>
      <p:sp>
        <p:nvSpPr>
          <p:cNvPr id="125" name="g2 step 2 body"/>
          <p:cNvSpPr txBox="1"/>
          <p:nvPr/>
        </p:nvSpPr>
        <p:spPr>
          <a:xfrm>
            <a:off x="2761488" y="1874519"/>
            <a:ext cx="2011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91852"/>
            </a:solidFill>
          </a:ln>
        </p:spPr>
        <p:txBody>
          <a:bodyPr wrap="square" lIns="73152" tIns="73152" rIns="73152" bIns="73152" anchor="t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45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Resize 224 × 224</a:t>
            </a:r>
          </a:p>
          <a:p>
            <a:pPr marL="0" indent="0" algn="ctr" rtl="0" lvl="0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45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ImageNet normalisation</a:t>
            </a:r>
          </a:p>
          <a:p>
            <a:pPr marL="0" indent="0" algn="ctr" rtl="0" lvl="0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45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Aug: h-flip, ±15° rotation, brightness/contrast 0.1</a:t>
            </a:r>
          </a:p>
        </p:txBody>
      </p:sp>
      <p:sp>
        <p:nvSpPr>
          <p:cNvPr id="126" name="g2 arrow 2"/>
          <p:cNvSpPr txBox="1"/>
          <p:nvPr/>
        </p:nvSpPr>
        <p:spPr>
          <a:xfrm>
            <a:off x="4828032" y="2514600"/>
            <a:ext cx="210311" cy="365760"/>
          </a:xfrm>
          <a:prstGeom prst="rightArrow">
            <a:avLst/>
          </a:prstGeom>
          <a:solidFill>
            <a:srgbClr val="0096A6"/>
          </a:solidFill>
          <a:ln w="19050"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l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</a:p>
        </p:txBody>
      </p:sp>
      <p:sp>
        <p:nvSpPr>
          <p:cNvPr id="127" name="g2 step 3 head"/>
          <p:cNvSpPr txBox="1"/>
          <p:nvPr/>
        </p:nvSpPr>
        <p:spPr>
          <a:xfrm>
            <a:off x="5093208" y="1371600"/>
            <a:ext cx="2011680" cy="502920"/>
          </a:xfrm>
          <a:prstGeom prst="rect">
            <a:avLst/>
          </a:prstGeom>
          <a:solidFill>
            <a:srgbClr val="0096A6"/>
          </a:solidFill>
          <a:ln w="19050"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</a:t>
            </a:r>
          </a:p>
        </p:txBody>
      </p:sp>
      <p:sp>
        <p:nvSpPr>
          <p:cNvPr id="128" name="g2 step 3 body"/>
          <p:cNvSpPr txBox="1"/>
          <p:nvPr/>
        </p:nvSpPr>
        <p:spPr>
          <a:xfrm>
            <a:off x="5093208" y="1874519"/>
            <a:ext cx="2011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6A6"/>
            </a:solidFill>
          </a:ln>
        </p:spPr>
        <p:txBody>
          <a:bodyPr wrap="square" lIns="73152" tIns="73152" rIns="73152" bIns="73152" anchor="t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45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A: pooled 80/10/10, seed 42 (2,609 / 325 / 330)</a:t>
            </a:r>
          </a:p>
          <a:p>
            <a:pPr marL="0" indent="0" algn="ctr" rtl="0" lvl="0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45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B: Testing folder held out (394); 10% val</a:t>
            </a:r>
          </a:p>
          <a:p>
            <a:pPr marL="0" indent="0" algn="ctr" rtl="0" lvl="0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45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AdamW · label smoothing 0.1</a:t>
            </a:r>
          </a:p>
        </p:txBody>
      </p:sp>
      <p:sp>
        <p:nvSpPr>
          <p:cNvPr id="129" name="g2 arrow 3"/>
          <p:cNvSpPr txBox="1"/>
          <p:nvPr/>
        </p:nvSpPr>
        <p:spPr>
          <a:xfrm>
            <a:off x="7159752" y="2514600"/>
            <a:ext cx="210311" cy="365760"/>
          </a:xfrm>
          <a:prstGeom prst="rightArrow">
            <a:avLst/>
          </a:prstGeom>
          <a:solidFill>
            <a:srgbClr val="0096A6"/>
          </a:solidFill>
          <a:ln w="19050"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l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</a:p>
        </p:txBody>
      </p:sp>
      <p:sp>
        <p:nvSpPr>
          <p:cNvPr id="130" name="g2 step 4 head"/>
          <p:cNvSpPr txBox="1"/>
          <p:nvPr/>
        </p:nvSpPr>
        <p:spPr>
          <a:xfrm>
            <a:off x="7424928" y="1371600"/>
            <a:ext cx="2011680" cy="502920"/>
          </a:xfrm>
          <a:prstGeom prst="rect">
            <a:avLst/>
          </a:prstGeom>
          <a:solidFill>
            <a:srgbClr val="091852"/>
          </a:solidFill>
          <a:ln w="19050"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Evaluation</a:t>
            </a:r>
          </a:p>
        </p:txBody>
      </p:sp>
      <p:sp>
        <p:nvSpPr>
          <p:cNvPr id="131" name="g2 step 4 body"/>
          <p:cNvSpPr txBox="1"/>
          <p:nvPr/>
        </p:nvSpPr>
        <p:spPr>
          <a:xfrm>
            <a:off x="7424928" y="1874519"/>
            <a:ext cx="2011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91852"/>
            </a:solidFill>
          </a:ln>
        </p:spPr>
        <p:txBody>
          <a:bodyPr wrap="square" lIns="73152" tIns="73152" rIns="73152" bIns="73152" anchor="t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45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Accuracy, 95% Wilson CI</a:t>
            </a:r>
          </a:p>
          <a:p>
            <a:pPr marL="0" indent="0" algn="ctr" rtl="0" lvl="0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45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Macro F1, macro AUC</a:t>
            </a:r>
          </a:p>
          <a:p>
            <a:pPr marL="0" indent="0" algn="ctr" rtl="0" lvl="0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45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Per-class P / R / F1</a:t>
            </a:r>
          </a:p>
        </p:txBody>
      </p:sp>
      <p:sp>
        <p:nvSpPr>
          <p:cNvPr id="132" name="g2 arrow 4"/>
          <p:cNvSpPr txBox="1"/>
          <p:nvPr/>
        </p:nvSpPr>
        <p:spPr>
          <a:xfrm>
            <a:off x="9491472" y="2514600"/>
            <a:ext cx="210311" cy="365760"/>
          </a:xfrm>
          <a:prstGeom prst="rightArrow">
            <a:avLst/>
          </a:prstGeom>
          <a:solidFill>
            <a:srgbClr val="0096A6"/>
          </a:solidFill>
          <a:ln w="19050"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l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</a:p>
        </p:txBody>
      </p:sp>
      <p:sp>
        <p:nvSpPr>
          <p:cNvPr id="133" name="g2 step 5 head"/>
          <p:cNvSpPr txBox="1"/>
          <p:nvPr/>
        </p:nvSpPr>
        <p:spPr>
          <a:xfrm>
            <a:off x="9756648" y="1371600"/>
            <a:ext cx="2011680" cy="502920"/>
          </a:xfrm>
          <a:prstGeom prst="rect">
            <a:avLst/>
          </a:prstGeom>
          <a:solidFill>
            <a:srgbClr val="091852"/>
          </a:solidFill>
          <a:ln w="19050"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</a:p>
        </p:txBody>
      </p:sp>
      <p:sp>
        <p:nvSpPr>
          <p:cNvPr id="134" name="g2 step 5 body"/>
          <p:cNvSpPr txBox="1"/>
          <p:nvPr/>
        </p:nvSpPr>
        <p:spPr>
          <a:xfrm>
            <a:off x="9756648" y="1874519"/>
            <a:ext cx="2011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91852"/>
            </a:solidFill>
          </a:ln>
        </p:spPr>
        <p:txBody>
          <a:bodyPr wrap="square" lIns="73152" tIns="73152" rIns="73152" bIns="73152" anchor="t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45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A: pooled test 96.36%</a:t>
            </a:r>
          </a:p>
          <a:p>
            <a:pPr marL="0" indent="0" algn="ctr" rtl="0" lvl="0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45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B: Testing folder 78.43%</a:t>
            </a:r>
          </a:p>
          <a:p>
            <a:pPr marL="0" indent="0" algn="ctr" rtl="0" lvl="0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45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Reported separately</a:t>
            </a:r>
          </a:p>
        </p:txBody>
      </p:sp>
      <p:sp>
        <p:nvSpPr>
          <p:cNvPr id="135" name="g2 detection lane"/>
          <p:cNvSpPr txBox="1"/>
          <p:nvPr/>
        </p:nvSpPr>
        <p:spPr>
          <a:xfrm>
            <a:off x="429768" y="4297680"/>
            <a:ext cx="11338560" cy="1783080"/>
          </a:xfrm>
          <a:prstGeom prst="roundRect">
            <a:avLst/>
          </a:prstGeom>
          <a:noFill/>
          <a:ln w="19050">
            <a:solidFill>
              <a:srgbClr val="0096A6"/>
            </a:solidFill>
            <a:prstDash val="dash"/>
          </a:ln>
        </p:spPr>
        <p:txBody>
          <a:bodyPr wrap="square" lIns="91440" tIns="91440" rIns="91440" bIns="91440" anchor="t" rtlCol="0">
            <a:noAutofit/>
          </a:bodyPr>
          <a:lstStyle/>
          <a:p>
            <a:pPr marL="0" indent="0" algn="l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0096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Separate detection branch — not coupled to NAC-ViT</a:t>
            </a:r>
          </a:p>
        </p:txBody>
      </p:sp>
      <p:sp>
        <p:nvSpPr>
          <p:cNvPr id="136" name="g2 det 1"/>
          <p:cNvSpPr txBox="1"/>
          <p:nvPr/>
        </p:nvSpPr>
        <p:spPr>
          <a:xfrm>
            <a:off x="658368" y="4800600"/>
            <a:ext cx="3429000" cy="1051560"/>
          </a:xfrm>
          <a:prstGeom prst="roundRect">
            <a:avLst/>
          </a:prstGeom>
          <a:solidFill>
            <a:srgbClr val="EAF5F7"/>
          </a:solidFill>
          <a:ln w="9525">
            <a:solidFill>
              <a:srgbClr val="9FC9CF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5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Ultralytics brain-tumor</a:t>
            </a:r>
          </a:p>
          <a:p>
            <a:pPr marL="0" indent="0" algn="ctr" rtl="0" lvl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5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detection collection</a:t>
            </a:r>
          </a:p>
        </p:txBody>
      </p:sp>
      <p:sp>
        <p:nvSpPr>
          <p:cNvPr id="137" name="g2 det arrow 1"/>
          <p:cNvSpPr txBox="1"/>
          <p:nvPr/>
        </p:nvSpPr>
        <p:spPr>
          <a:xfrm>
            <a:off x="4160520" y="5166360"/>
            <a:ext cx="265176" cy="320040"/>
          </a:xfrm>
          <a:prstGeom prst="rightArrow">
            <a:avLst/>
          </a:prstGeom>
          <a:solidFill>
            <a:srgbClr val="0096A6"/>
          </a:solidFill>
          <a:ln w="19050"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l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</a:p>
        </p:txBody>
      </p:sp>
      <p:sp>
        <p:nvSpPr>
          <p:cNvPr id="138" name="g2 det 2"/>
          <p:cNvSpPr txBox="1"/>
          <p:nvPr/>
        </p:nvSpPr>
        <p:spPr>
          <a:xfrm>
            <a:off x="4498848" y="4800600"/>
            <a:ext cx="3429000" cy="1051560"/>
          </a:xfrm>
          <a:prstGeom prst="roundRect">
            <a:avLst/>
          </a:prstGeom>
          <a:solidFill>
            <a:srgbClr val="EAF5F7"/>
          </a:solidFill>
          <a:ln w="9525">
            <a:solidFill>
              <a:srgbClr val="9FC9CF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5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YOLO11m · 640 × 640 · 300 epochs</a:t>
            </a:r>
          </a:p>
          <a:p>
            <a:pPr marL="0" indent="0" algn="ctr" rtl="0" lvl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5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AdamW + cosine LR</a:t>
            </a:r>
          </a:p>
        </p:txBody>
      </p:sp>
      <p:sp>
        <p:nvSpPr>
          <p:cNvPr id="139" name="g2 det arrow 2"/>
          <p:cNvSpPr txBox="1"/>
          <p:nvPr/>
        </p:nvSpPr>
        <p:spPr>
          <a:xfrm>
            <a:off x="8001000" y="5166360"/>
            <a:ext cx="265176" cy="320040"/>
          </a:xfrm>
          <a:prstGeom prst="rightArrow">
            <a:avLst/>
          </a:prstGeom>
          <a:solidFill>
            <a:srgbClr val="0096A6"/>
          </a:solidFill>
          <a:ln w="19050"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l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</a:p>
        </p:txBody>
      </p:sp>
      <p:sp>
        <p:nvSpPr>
          <p:cNvPr id="140" name="g2 det 3"/>
          <p:cNvSpPr txBox="1"/>
          <p:nvPr/>
        </p:nvSpPr>
        <p:spPr>
          <a:xfrm>
            <a:off x="8339328" y="4800600"/>
            <a:ext cx="3429000" cy="1051560"/>
          </a:xfrm>
          <a:prstGeom prst="roundRect">
            <a:avLst/>
          </a:prstGeom>
          <a:solidFill>
            <a:srgbClr val="EAF5F7"/>
          </a:solidFill>
          <a:ln w="9525">
            <a:solidFill>
              <a:srgbClr val="9FC9CF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5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Best epoch 27: mAP@0.50 0.477</a:t>
            </a:r>
          </a:p>
          <a:p>
            <a:pPr marL="0" indent="0" algn="ctr" rtl="0" lvl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5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 0.417 · R 0.795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9abc5bc8b_0_0"/>
          <p:cNvSpPr txBox="1"/>
          <p:nvPr>
            <p:ph type="title"/>
          </p:nvPr>
        </p:nvSpPr>
        <p:spPr>
          <a:xfrm>
            <a:off x="1808100" y="0"/>
            <a:ext cx="8229600" cy="853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NAC-ViT Architecture</a:t>
            </a:r>
          </a:p>
        </p:txBody>
      </p:sp>
      <p:sp>
        <p:nvSpPr>
          <p:cNvPr id="120" name="g2 arch 1"/>
          <p:cNvSpPr txBox="1"/>
          <p:nvPr/>
        </p:nvSpPr>
        <p:spPr>
          <a:xfrm>
            <a:off x="521207" y="1097280"/>
            <a:ext cx="1691640" cy="1417320"/>
          </a:xfrm>
          <a:prstGeom prst="roundRect">
            <a:avLst/>
          </a:prstGeom>
          <a:solidFill>
            <a:srgbClr val="EAF5F7"/>
          </a:solidFill>
          <a:ln w="12700">
            <a:solidFill>
              <a:srgbClr val="9FC9CF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600" b="1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MRI input</a:t>
            </a:r>
          </a:p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224 × 224, ImageNet-normalised</a:t>
            </a:r>
          </a:p>
        </p:txBody>
      </p:sp>
      <p:sp>
        <p:nvSpPr>
          <p:cNvPr id="121" name="g2 arch arrow 1"/>
          <p:cNvSpPr txBox="1"/>
          <p:nvPr/>
        </p:nvSpPr>
        <p:spPr>
          <a:xfrm>
            <a:off x="2240279" y="1645919"/>
            <a:ext cx="146304" cy="292608"/>
          </a:xfrm>
          <a:prstGeom prst="rightArrow">
            <a:avLst/>
          </a:prstGeom>
          <a:solidFill>
            <a:srgbClr val="0096A6"/>
          </a:solidFill>
          <a:ln w="19050"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l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</a:p>
        </p:txBody>
      </p:sp>
      <p:sp>
        <p:nvSpPr>
          <p:cNvPr id="122" name="g2 arch 2"/>
          <p:cNvSpPr txBox="1"/>
          <p:nvPr/>
        </p:nvSpPr>
        <p:spPr>
          <a:xfrm>
            <a:off x="2414016" y="1097280"/>
            <a:ext cx="1691640" cy="1417320"/>
          </a:xfrm>
          <a:prstGeom prst="roundRect">
            <a:avLst/>
          </a:prstGeom>
          <a:solidFill>
            <a:srgbClr val="EAF5F7"/>
          </a:solidFill>
          <a:ln w="12700">
            <a:solidFill>
              <a:srgbClr val="9FC9CF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600" b="1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Patch embedding</a:t>
            </a:r>
          </a:p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196 patches (16×16) → 768-d + CLS token</a:t>
            </a:r>
          </a:p>
        </p:txBody>
      </p:sp>
      <p:sp>
        <p:nvSpPr>
          <p:cNvPr id="123" name="g2 arch arrow 2"/>
          <p:cNvSpPr txBox="1"/>
          <p:nvPr/>
        </p:nvSpPr>
        <p:spPr>
          <a:xfrm>
            <a:off x="4133088" y="1645919"/>
            <a:ext cx="146304" cy="292608"/>
          </a:xfrm>
          <a:prstGeom prst="rightArrow">
            <a:avLst/>
          </a:prstGeom>
          <a:solidFill>
            <a:srgbClr val="0096A6"/>
          </a:solidFill>
          <a:ln w="19050"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l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</a:p>
        </p:txBody>
      </p:sp>
      <p:sp>
        <p:nvSpPr>
          <p:cNvPr id="124" name="g2 arch 3"/>
          <p:cNvSpPr txBox="1"/>
          <p:nvPr/>
        </p:nvSpPr>
        <p:spPr>
          <a:xfrm>
            <a:off x="4306824" y="1097280"/>
            <a:ext cx="1691640" cy="1417320"/>
          </a:xfrm>
          <a:prstGeom prst="roundRect">
            <a:avLst/>
          </a:prstGeom>
          <a:solidFill>
            <a:srgbClr val="EAF5F7"/>
          </a:solidFill>
          <a:ln w="12700">
            <a:solidFill>
              <a:srgbClr val="9FC9CF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600" b="1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ViT-B/16 encoder</a:t>
            </a:r>
          </a:p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ImageNet-1K init, all layers fine-tuned</a:t>
            </a:r>
          </a:p>
        </p:txBody>
      </p:sp>
      <p:sp>
        <p:nvSpPr>
          <p:cNvPr id="125" name="g2 arch arrow 3"/>
          <p:cNvSpPr txBox="1"/>
          <p:nvPr/>
        </p:nvSpPr>
        <p:spPr>
          <a:xfrm>
            <a:off x="6025896" y="1645919"/>
            <a:ext cx="146304" cy="292608"/>
          </a:xfrm>
          <a:prstGeom prst="rightArrow">
            <a:avLst/>
          </a:prstGeom>
          <a:solidFill>
            <a:srgbClr val="0096A6"/>
          </a:solidFill>
          <a:ln w="19050"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l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</a:p>
        </p:txBody>
      </p:sp>
      <p:sp>
        <p:nvSpPr>
          <p:cNvPr id="126" name="g2 arch 4"/>
          <p:cNvSpPr txBox="1"/>
          <p:nvPr/>
        </p:nvSpPr>
        <p:spPr>
          <a:xfrm>
            <a:off x="6199632" y="1097280"/>
            <a:ext cx="1691640" cy="1417320"/>
          </a:xfrm>
          <a:prstGeom prst="roundRect">
            <a:avLst/>
          </a:prstGeom>
          <a:solidFill>
            <a:srgbClr val="0096A6"/>
          </a:solidFill>
          <a:ln w="12700">
            <a:solidFill>
              <a:srgbClr val="0096A6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6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× NAC block</a:t>
            </a:r>
          </a:p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heads, width 160</a:t>
            </a:r>
          </a:p>
        </p:txBody>
      </p:sp>
      <p:sp>
        <p:nvSpPr>
          <p:cNvPr id="127" name="g2 arch arrow 4"/>
          <p:cNvSpPr txBox="1"/>
          <p:nvPr/>
        </p:nvSpPr>
        <p:spPr>
          <a:xfrm>
            <a:off x="7918704" y="1645919"/>
            <a:ext cx="146304" cy="292608"/>
          </a:xfrm>
          <a:prstGeom prst="rightArrow">
            <a:avLst/>
          </a:prstGeom>
          <a:solidFill>
            <a:srgbClr val="0096A6"/>
          </a:solidFill>
          <a:ln w="19050"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l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</a:p>
        </p:txBody>
      </p:sp>
      <p:sp>
        <p:nvSpPr>
          <p:cNvPr id="128" name="g2 arch 5"/>
          <p:cNvSpPr txBox="1"/>
          <p:nvPr/>
        </p:nvSpPr>
        <p:spPr>
          <a:xfrm>
            <a:off x="8092440" y="1097280"/>
            <a:ext cx="1691640" cy="1417320"/>
          </a:xfrm>
          <a:prstGeom prst="roundRect">
            <a:avLst/>
          </a:prstGeom>
          <a:solidFill>
            <a:srgbClr val="EAF5F7"/>
          </a:solidFill>
          <a:ln w="12700">
            <a:solidFill>
              <a:srgbClr val="9FC9CF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600" b="1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Classifier head</a:t>
            </a:r>
          </a:p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CLS token → LayerNorm → Dropout 0.1 → Linear</a:t>
            </a:r>
          </a:p>
        </p:txBody>
      </p:sp>
      <p:sp>
        <p:nvSpPr>
          <p:cNvPr id="129" name="g2 arch arrow 5"/>
          <p:cNvSpPr txBox="1"/>
          <p:nvPr/>
        </p:nvSpPr>
        <p:spPr>
          <a:xfrm>
            <a:off x="9811512" y="1645919"/>
            <a:ext cx="146304" cy="292608"/>
          </a:xfrm>
          <a:prstGeom prst="rightArrow">
            <a:avLst/>
          </a:prstGeom>
          <a:solidFill>
            <a:srgbClr val="0096A6"/>
          </a:solidFill>
          <a:ln w="19050"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l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</a:p>
        </p:txBody>
      </p:sp>
      <p:sp>
        <p:nvSpPr>
          <p:cNvPr id="130" name="g2 arch 6"/>
          <p:cNvSpPr txBox="1"/>
          <p:nvPr/>
        </p:nvSpPr>
        <p:spPr>
          <a:xfrm>
            <a:off x="9985248" y="1097280"/>
            <a:ext cx="1691640" cy="1417320"/>
          </a:xfrm>
          <a:prstGeom prst="roundRect">
            <a:avLst/>
          </a:prstGeom>
          <a:solidFill>
            <a:srgbClr val="EAF5F7"/>
          </a:solidFill>
          <a:ln w="12700">
            <a:solidFill>
              <a:srgbClr val="9FC9CF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600" b="1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logits</a:t>
            </a:r>
          </a:p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glioma · meningioma · no tumor · pituitary</a:t>
            </a:r>
          </a:p>
        </p:txBody>
      </p:sp>
      <p:sp>
        <p:nvSpPr>
          <p:cNvPr id="131" name="g2 arch down"/>
          <p:cNvSpPr txBox="1"/>
          <p:nvPr/>
        </p:nvSpPr>
        <p:spPr>
          <a:xfrm>
            <a:off x="6880860" y="2560320"/>
            <a:ext cx="329184" cy="301752"/>
          </a:xfrm>
          <a:prstGeom prst="downArrow">
            <a:avLst/>
          </a:prstGeom>
          <a:solidFill>
            <a:srgbClr val="0096A6"/>
          </a:solidFill>
          <a:ln w="19050"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l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</a:p>
        </p:txBody>
      </p:sp>
      <p:sp>
        <p:nvSpPr>
          <p:cNvPr id="132" name="g2 nac panel"/>
          <p:cNvSpPr txBox="1"/>
          <p:nvPr/>
        </p:nvSpPr>
        <p:spPr>
          <a:xfrm>
            <a:off x="521207" y="2926080"/>
            <a:ext cx="11155680" cy="3246120"/>
          </a:xfrm>
          <a:prstGeom prst="roundRect">
            <a:avLst/>
          </a:prstGeom>
          <a:noFill/>
          <a:ln w="19050">
            <a:solidFill>
              <a:srgbClr val="0096A6"/>
            </a:solidFill>
          </a:ln>
        </p:spPr>
        <p:txBody>
          <a:bodyPr wrap="square" lIns="91440" tIns="91440" rIns="91440" bIns="91440" anchor="t" rtlCol="0">
            <a:noAutofit/>
          </a:bodyPr>
          <a:lstStyle/>
          <a:p>
            <a:pPr marL="0" indent="0" algn="l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0096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Inside one NAC block (applied 4 times)</a:t>
            </a:r>
          </a:p>
        </p:txBody>
      </p:sp>
      <p:sp>
        <p:nvSpPr>
          <p:cNvPr id="133" name="g2 nac 1"/>
          <p:cNvSpPr txBox="1"/>
          <p:nvPr/>
        </p:nvSpPr>
        <p:spPr>
          <a:xfrm>
            <a:off x="640080" y="3429000"/>
            <a:ext cx="20116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FC9CF"/>
            </a:solidFill>
          </a:ln>
        </p:spPr>
        <p:txBody>
          <a:bodyPr wrap="square" lIns="36576" tIns="36576" rIns="36576" bIns="36576" anchor="ctr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500" b="1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</a:p>
          <a:p>
            <a:pPr marL="0" indent="0" algn="ctr" rtl="0" lvl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5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LayerNorm → Linear 768→160</a:t>
            </a:r>
          </a:p>
          <a:p>
            <a:pPr marL="0" indent="0" algn="ctr" rtl="0" lvl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5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Q, K, V: 4 heads, d</a:t>
            </a:r>
            <a:r>
              <a:rPr lang="en-US" sz="1250" baseline="-250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125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40</a:t>
            </a:r>
          </a:p>
        </p:txBody>
      </p:sp>
      <p:sp>
        <p:nvSpPr>
          <p:cNvPr id="134" name="g2 nac arrow 1"/>
          <p:cNvSpPr txBox="1"/>
          <p:nvPr/>
        </p:nvSpPr>
        <p:spPr>
          <a:xfrm>
            <a:off x="2679192" y="4206240"/>
            <a:ext cx="146304" cy="274320"/>
          </a:xfrm>
          <a:prstGeom prst="rightArrow">
            <a:avLst/>
          </a:prstGeom>
          <a:solidFill>
            <a:srgbClr val="0096A6"/>
          </a:solidFill>
          <a:ln w="19050"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l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</a:p>
        </p:txBody>
      </p:sp>
      <p:sp>
        <p:nvSpPr>
          <p:cNvPr id="135" name="g2 nac 2"/>
          <p:cNvSpPr txBox="1"/>
          <p:nvPr/>
        </p:nvSpPr>
        <p:spPr>
          <a:xfrm>
            <a:off x="2852928" y="3429000"/>
            <a:ext cx="20116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FC9CF"/>
            </a:solidFill>
          </a:ln>
        </p:spPr>
        <p:txBody>
          <a:bodyPr wrap="square" lIns="36576" tIns="36576" rIns="36576" bIns="36576" anchor="ctr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500" b="1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Initial attention</a:t>
            </a:r>
          </a:p>
          <a:p>
            <a:pPr marL="0" indent="0" algn="ctr" rtl="0" lvl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5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1250" baseline="-250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125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sigmoid(QK</a:t>
            </a:r>
            <a:r>
              <a:rPr lang="en-US" sz="1250" baseline="300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125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/ √d</a:t>
            </a:r>
            <a:r>
              <a:rPr lang="en-US" sz="1250" baseline="-250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125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</a:p>
          <a:p>
            <a:pPr marL="0" indent="0" algn="ctr" rtl="0" lvl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5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entries in (0, 1)</a:t>
            </a:r>
          </a:p>
        </p:txBody>
      </p:sp>
      <p:sp>
        <p:nvSpPr>
          <p:cNvPr id="136" name="g2 nac arrow 2"/>
          <p:cNvSpPr txBox="1"/>
          <p:nvPr/>
        </p:nvSpPr>
        <p:spPr>
          <a:xfrm>
            <a:off x="4892040" y="4206240"/>
            <a:ext cx="146304" cy="274320"/>
          </a:xfrm>
          <a:prstGeom prst="rightArrow">
            <a:avLst/>
          </a:prstGeom>
          <a:solidFill>
            <a:srgbClr val="0096A6"/>
          </a:solidFill>
          <a:ln w="19050"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l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</a:p>
        </p:txBody>
      </p:sp>
      <p:sp>
        <p:nvSpPr>
          <p:cNvPr id="137" name="g2 nac 3"/>
          <p:cNvSpPr txBox="1"/>
          <p:nvPr/>
        </p:nvSpPr>
        <p:spPr>
          <a:xfrm>
            <a:off x="5065776" y="3429000"/>
            <a:ext cx="2011680" cy="1874519"/>
          </a:xfrm>
          <a:prstGeom prst="roundRect">
            <a:avLst/>
          </a:prstGeom>
          <a:solidFill>
            <a:srgbClr val="0096A6"/>
          </a:solidFill>
          <a:ln w="12700">
            <a:solidFill>
              <a:srgbClr val="0096A6"/>
            </a:solidFill>
          </a:ln>
        </p:spPr>
        <p:txBody>
          <a:bodyPr wrap="square" lIns="36576" tIns="36576" rIns="36576" bIns="36576" anchor="ctr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ODE update</a:t>
            </a:r>
          </a:p>
          <a:p>
            <a:pPr marL="0" indent="0" algn="ctr" rtl="0" lvl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dA/dt = φA(1 − A) − ωA</a:t>
            </a:r>
          </a:p>
          <a:p>
            <a:pPr marL="0" indent="0" algn="ctr" rtl="0" lvl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Euler steps, Δt = 0.1</a:t>
            </a:r>
          </a:p>
          <a:p>
            <a:pPr marL="0" indent="0" algn="ctr" rtl="0" lvl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 ← A + Δt·dA/dt, clipped to [0, 1]</a:t>
            </a:r>
          </a:p>
        </p:txBody>
      </p:sp>
      <p:sp>
        <p:nvSpPr>
          <p:cNvPr id="138" name="g2 nac arrow 3"/>
          <p:cNvSpPr txBox="1"/>
          <p:nvPr/>
        </p:nvSpPr>
        <p:spPr>
          <a:xfrm>
            <a:off x="7104888" y="4206240"/>
            <a:ext cx="146304" cy="274320"/>
          </a:xfrm>
          <a:prstGeom prst="rightArrow">
            <a:avLst/>
          </a:prstGeom>
          <a:solidFill>
            <a:srgbClr val="0096A6"/>
          </a:solidFill>
          <a:ln w="19050"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l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</a:p>
        </p:txBody>
      </p:sp>
      <p:sp>
        <p:nvSpPr>
          <p:cNvPr id="139" name="g2 nac 4"/>
          <p:cNvSpPr txBox="1"/>
          <p:nvPr/>
        </p:nvSpPr>
        <p:spPr>
          <a:xfrm>
            <a:off x="7278624" y="3429000"/>
            <a:ext cx="20116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FC9CF"/>
            </a:solidFill>
          </a:ln>
        </p:spPr>
        <p:txBody>
          <a:bodyPr wrap="square" lIns="36576" tIns="36576" rIns="36576" bIns="36576" anchor="ctr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500" b="1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Aggregate</a:t>
            </a:r>
          </a:p>
          <a:p>
            <a:pPr marL="0" indent="0" algn="ctr" rtl="0" lvl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5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Row-normalise A, multiply V</a:t>
            </a:r>
          </a:p>
          <a:p>
            <a:pPr marL="0" indent="0" algn="ctr" rtl="0" lvl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5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 160→768 + residual</a:t>
            </a:r>
          </a:p>
        </p:txBody>
      </p:sp>
      <p:sp>
        <p:nvSpPr>
          <p:cNvPr id="140" name="g2 nac arrow 4"/>
          <p:cNvSpPr txBox="1"/>
          <p:nvPr/>
        </p:nvSpPr>
        <p:spPr>
          <a:xfrm>
            <a:off x="9317736" y="4206240"/>
            <a:ext cx="146304" cy="274320"/>
          </a:xfrm>
          <a:prstGeom prst="rightArrow">
            <a:avLst/>
          </a:prstGeom>
          <a:solidFill>
            <a:srgbClr val="0096A6"/>
          </a:solidFill>
          <a:ln w="19050"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l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</a:p>
        </p:txBody>
      </p:sp>
      <p:sp>
        <p:nvSpPr>
          <p:cNvPr id="141" name="g2 nac 5"/>
          <p:cNvSpPr txBox="1"/>
          <p:nvPr/>
        </p:nvSpPr>
        <p:spPr>
          <a:xfrm>
            <a:off x="9491472" y="3429000"/>
            <a:ext cx="20116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FC9CF"/>
            </a:solidFill>
          </a:ln>
        </p:spPr>
        <p:txBody>
          <a:bodyPr wrap="square" lIns="36576" tIns="36576" rIns="36576" bIns="36576" anchor="ctr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500" b="1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Bottleneck MLP</a:t>
            </a:r>
          </a:p>
          <a:p>
            <a:pPr marL="0" indent="0" algn="ctr" rtl="0" lvl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5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LayerNorm → 768→160→768</a:t>
            </a:r>
          </a:p>
          <a:p>
            <a:pPr marL="0" indent="0" algn="ctr" rtl="0" lvl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5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GELU, + residual</a:t>
            </a:r>
          </a:p>
        </p:txBody>
      </p:sp>
      <p:sp>
        <p:nvSpPr>
          <p:cNvPr id="142" name="g2 nac footer"/>
          <p:cNvSpPr txBox="1"/>
          <p:nvPr/>
        </p:nvSpPr>
        <p:spPr>
          <a:xfrm>
            <a:off x="749808" y="5440680"/>
            <a:ext cx="10698480" cy="594360"/>
          </a:xfrm>
          <a:prstGeom prst="rect">
            <a:avLst/>
          </a:prstGeom>
          <a:noFill/>
          <a:ln w="19050">
            <a:noFill/>
          </a:ln>
        </p:spPr>
        <p:txBody>
          <a:bodyPr wrap="square" lIns="91425" tIns="45700" rIns="91425" bIns="45700" anchor="ctr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i="1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φ (gate) and ω (leak): softplus-constrained, one value per head, initialised ≈ 0.693; τ = 1/ω in Euler-step units.  Whole network: 88.10 M trainable parameters.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9abc5bc8b_0_0"/>
          <p:cNvSpPr txBox="1"/>
          <p:nvPr>
            <p:ph type="title"/>
          </p:nvPr>
        </p:nvSpPr>
        <p:spPr>
          <a:xfrm>
            <a:off x="1808100" y="0"/>
            <a:ext cx="8229600" cy="853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NAC Attention Dynamics</a:t>
            </a:r>
          </a:p>
        </p:txBody>
      </p:sp>
      <p:sp>
        <p:nvSpPr>
          <p:cNvPr id="120" name="g3 equation"/>
          <p:cNvSpPr txBox="1"/>
          <p:nvPr/>
        </p:nvSpPr>
        <p:spPr>
          <a:xfrm>
            <a:off x="457200" y="1051560"/>
            <a:ext cx="5212080" cy="777240"/>
          </a:xfrm>
          <a:prstGeom prst="roundRect">
            <a:avLst/>
          </a:prstGeom>
          <a:solidFill>
            <a:srgbClr val="091852"/>
          </a:solidFill>
          <a:ln w="19050"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dA/dt = φ · A(t) · (1 − A(t)) − ω · A(t)</a:t>
            </a:r>
          </a:p>
        </p:txBody>
      </p:sp>
      <p:sp>
        <p:nvSpPr>
          <p:cNvPr id="121" name="g3 defs"/>
          <p:cNvSpPr txBox="1"/>
          <p:nvPr/>
        </p:nvSpPr>
        <p:spPr>
          <a:xfrm>
            <a:off x="457200" y="1920240"/>
            <a:ext cx="5212080" cy="1783080"/>
          </a:xfrm>
          <a:prstGeom prst="rect">
            <a:avLst/>
          </a:prstGeom>
          <a:noFill/>
          <a:ln w="19050">
            <a:noFill/>
          </a:ln>
        </p:spPr>
        <p:txBody>
          <a:bodyPr wrap="square" lIns="91425" tIns="45700" rIns="91425" bIns="45700" anchor="t" rtlCol="0">
            <a:noAutofit/>
          </a:bodyPr>
          <a:lstStyle/>
          <a:p>
            <a:pPr marL="285750" indent="-285750" algn="l" rtl="0" lvl="0">
              <a:spcBef>
                <a:spcPts val="0"/>
              </a:spcBef>
              <a:spcAft>
                <a:spcPts val="600"/>
              </a:spcAft>
              <a:buClr>
                <a:srgbClr val="0096A6"/>
              </a:buClr>
              <a:buFont typeface="Arial"/>
              <a:buChar char="•"/>
            </a:pPr>
            <a:r>
              <a:rPr lang="en-US" sz="1600" b="1">
                <a:solidFill>
                  <a:srgbClr val="0096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φ  gate: </a:t>
            </a:r>
            <a:r>
              <a:rPr lang="en-US" sz="16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saturating logistic term φA(1 − A); softplus, one per head</a:t>
            </a:r>
          </a:p>
          <a:p>
            <a:pPr marL="285750" indent="-285750" algn="l" rtl="0" lvl="0">
              <a:spcBef>
                <a:spcPts val="0"/>
              </a:spcBef>
              <a:spcAft>
                <a:spcPts val="600"/>
              </a:spcAft>
              <a:buClr>
                <a:srgbClr val="0096A6"/>
              </a:buClr>
              <a:buFont typeface="Arial"/>
              <a:buChar char="•"/>
            </a:pPr>
            <a:r>
              <a:rPr lang="en-US" sz="1600" b="1">
                <a:solidFill>
                  <a:srgbClr val="0096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ω  leak: </a:t>
            </a:r>
            <a:r>
              <a:rPr lang="en-US" sz="16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 decay −ωA; softplus, one per head</a:t>
            </a:r>
          </a:p>
          <a:p>
            <a:pPr marL="285750" indent="-285750" algn="l" rtl="0" lvl="0">
              <a:spcBef>
                <a:spcPts val="0"/>
              </a:spcBef>
              <a:spcAft>
                <a:spcPts val="600"/>
              </a:spcAft>
              <a:buClr>
                <a:srgbClr val="0096A6"/>
              </a:buClr>
              <a:buFont typeface="Arial"/>
              <a:buChar char="•"/>
            </a:pPr>
            <a:r>
              <a:rPr lang="en-US" sz="1600" b="1">
                <a:solidFill>
                  <a:srgbClr val="0096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τ = 1/ω: </a:t>
            </a:r>
            <a:r>
              <a:rPr lang="en-US" sz="16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Euler-step units, not a membrane time in ms</a:t>
            </a:r>
          </a:p>
          <a:p>
            <a:pPr marL="285750" indent="-285750" algn="l" rtl="0" lvl="0">
              <a:spcBef>
                <a:spcPts val="0"/>
              </a:spcBef>
              <a:spcAft>
                <a:spcPts val="600"/>
              </a:spcAft>
              <a:buClr>
                <a:srgbClr val="0096A6"/>
              </a:buClr>
              <a:buFont typeface="Arial"/>
              <a:buChar char="•"/>
            </a:pPr>
            <a:r>
              <a:rPr lang="en-US" sz="1600" b="1">
                <a:solidFill>
                  <a:srgbClr val="0096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Update: </a:t>
            </a:r>
            <a:r>
              <a:rPr lang="en-US" sz="16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Euler steps, Δt = 0.1, clipped to [0, 1]</a:t>
            </a:r>
          </a:p>
        </p:txBody>
      </p:sp>
      <p:sp>
        <p:nvSpPr>
          <p:cNvPr id="122" name="g3 curve tag"/>
          <p:cNvSpPr txBox="1"/>
          <p:nvPr/>
        </p:nvSpPr>
        <p:spPr>
          <a:xfrm>
            <a:off x="5897880" y="987552"/>
            <a:ext cx="5852160" cy="384048"/>
          </a:xfrm>
          <a:prstGeom prst="rect">
            <a:avLst/>
          </a:prstGeom>
          <a:solidFill>
            <a:srgbClr val="0096A6"/>
          </a:solidFill>
          <a:ln w="19050"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Illustrative: </a:t>
            </a:r>
            <a:r>
              <a:rPr lang="en-US"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A(t) computed from the equation, φ = ω = 0.693 (init) — not model output</a:t>
            </a:r>
          </a:p>
        </p:txBody>
      </p:sp>
      <p:sp>
        <p:nvSpPr>
          <p:cNvPr id="123" name="g3 axes"/>
          <p:cNvSpPr/>
          <p:nvPr/>
        </p:nvSpPr>
        <p:spPr>
          <a:xfrm>
            <a:off x="6446520" y="1463040"/>
            <a:ext cx="4754880" cy="1783079"/>
          </a:xfrm>
          <a:custGeom>
            <a:avLst/>
            <a:gdLst/>
            <a:ahLst/>
            <a:cxnLst/>
            <a:rect l="0" t="0" r="r" b="b"/>
            <a:pathLst>
              <a:path w="4754880" h="1783079" fill="none">
                <a:moveTo>
                  <a:pt x="0" y="0"/>
                </a:moveTo>
                <a:lnTo>
                  <a:pt x="0" y="1783079"/>
                </a:lnTo>
                <a:lnTo>
                  <a:pt x="4754880" y="1783079"/>
                </a:lnTo>
              </a:path>
            </a:pathLst>
          </a:custGeom>
          <a:noFill/>
          <a:ln w="12700">
            <a:solidFill>
              <a:srgbClr val="5A6A7A"/>
            </a:solidFill>
          </a:ln>
        </p:spPr>
      </p:sp>
      <p:sp>
        <p:nvSpPr>
          <p:cNvPr id="124" name="g3 grid 0.5"/>
          <p:cNvSpPr/>
          <p:nvPr/>
        </p:nvSpPr>
        <p:spPr>
          <a:xfrm>
            <a:off x="6446520" y="2354580"/>
            <a:ext cx="4754880" cy="1"/>
          </a:xfrm>
          <a:custGeom>
            <a:avLst/>
            <a:gdLst/>
            <a:ahLst/>
            <a:cxnLst/>
            <a:rect l="0" t="0" r="r" b="b"/>
            <a:pathLst>
              <a:path w="4754880" h="1" fill="none">
                <a:moveTo>
                  <a:pt x="0" y="0"/>
                </a:moveTo>
                <a:lnTo>
                  <a:pt x="4754880" y="0"/>
                </a:lnTo>
              </a:path>
            </a:pathLst>
          </a:custGeom>
          <a:noFill/>
          <a:ln w="6350">
            <a:solidFill>
              <a:srgbClr val="D5E3E6"/>
            </a:solidFill>
          </a:ln>
        </p:spPr>
      </p:sp>
      <p:sp>
        <p:nvSpPr>
          <p:cNvPr id="125" name="g3 ytick 0.5"/>
          <p:cNvSpPr txBox="1"/>
          <p:nvPr/>
        </p:nvSpPr>
        <p:spPr>
          <a:xfrm>
            <a:off x="6099048" y="2244852"/>
            <a:ext cx="292608" cy="219456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A6A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0.5</a:t>
            </a:r>
          </a:p>
        </p:txBody>
      </p:sp>
      <p:sp>
        <p:nvSpPr>
          <p:cNvPr id="126" name="g3 grid 1.0"/>
          <p:cNvSpPr/>
          <p:nvPr/>
        </p:nvSpPr>
        <p:spPr>
          <a:xfrm>
            <a:off x="6446520" y="1463040"/>
            <a:ext cx="4754880" cy="1"/>
          </a:xfrm>
          <a:custGeom>
            <a:avLst/>
            <a:gdLst/>
            <a:ahLst/>
            <a:cxnLst/>
            <a:rect l="0" t="0" r="r" b="b"/>
            <a:pathLst>
              <a:path w="4754880" h="1" fill="none">
                <a:moveTo>
                  <a:pt x="0" y="0"/>
                </a:moveTo>
                <a:lnTo>
                  <a:pt x="4754880" y="0"/>
                </a:lnTo>
              </a:path>
            </a:pathLst>
          </a:custGeom>
          <a:noFill/>
          <a:ln w="6350">
            <a:solidFill>
              <a:srgbClr val="D5E3E6"/>
            </a:solidFill>
          </a:ln>
        </p:spPr>
      </p:sp>
      <p:sp>
        <p:nvSpPr>
          <p:cNvPr id="127" name="g3 ytick 1.0"/>
          <p:cNvSpPr txBox="1"/>
          <p:nvPr/>
        </p:nvSpPr>
        <p:spPr>
          <a:xfrm>
            <a:off x="6099048" y="1353312"/>
            <a:ext cx="292608" cy="219456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A6A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1.0</a:t>
            </a:r>
          </a:p>
        </p:txBody>
      </p:sp>
      <p:sp>
        <p:nvSpPr>
          <p:cNvPr id="128" name="g3 ytick 0"/>
          <p:cNvSpPr txBox="1"/>
          <p:nvPr/>
        </p:nvSpPr>
        <p:spPr>
          <a:xfrm>
            <a:off x="6099048" y="2971800"/>
            <a:ext cx="292608" cy="219456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A6A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</a:p>
        </p:txBody>
      </p:sp>
      <p:sp>
        <p:nvSpPr>
          <p:cNvPr id="129" name="g3 xtick 0"/>
          <p:cNvSpPr txBox="1"/>
          <p:nvPr/>
        </p:nvSpPr>
        <p:spPr>
          <a:xfrm>
            <a:off x="6172200" y="3282696"/>
            <a:ext cx="548640" cy="219456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A6A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</a:p>
        </p:txBody>
      </p:sp>
      <p:sp>
        <p:nvSpPr>
          <p:cNvPr id="130" name="g3 xtick 1"/>
          <p:cNvSpPr txBox="1"/>
          <p:nvPr/>
        </p:nvSpPr>
        <p:spPr>
          <a:xfrm>
            <a:off x="7360919" y="3282696"/>
            <a:ext cx="548640" cy="219456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A6A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0.1</a:t>
            </a:r>
          </a:p>
        </p:txBody>
      </p:sp>
      <p:sp>
        <p:nvSpPr>
          <p:cNvPr id="131" name="g3 xtick 2"/>
          <p:cNvSpPr txBox="1"/>
          <p:nvPr/>
        </p:nvSpPr>
        <p:spPr>
          <a:xfrm>
            <a:off x="8549640" y="3282696"/>
            <a:ext cx="548640" cy="219456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A6A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0.2</a:t>
            </a:r>
          </a:p>
        </p:txBody>
      </p:sp>
      <p:sp>
        <p:nvSpPr>
          <p:cNvPr id="132" name="g3 xtick 3"/>
          <p:cNvSpPr txBox="1"/>
          <p:nvPr/>
        </p:nvSpPr>
        <p:spPr>
          <a:xfrm>
            <a:off x="9738359" y="3282696"/>
            <a:ext cx="548640" cy="219456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A6A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0.3</a:t>
            </a:r>
          </a:p>
        </p:txBody>
      </p:sp>
      <p:sp>
        <p:nvSpPr>
          <p:cNvPr id="133" name="g3 xtick 4"/>
          <p:cNvSpPr txBox="1"/>
          <p:nvPr/>
        </p:nvSpPr>
        <p:spPr>
          <a:xfrm>
            <a:off x="10927080" y="3282696"/>
            <a:ext cx="548640" cy="219456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A6A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0.4</a:t>
            </a:r>
          </a:p>
        </p:txBody>
      </p:sp>
      <p:sp>
        <p:nvSpPr>
          <p:cNvPr id="134" name="g3 xlabel"/>
          <p:cNvSpPr txBox="1"/>
          <p:nvPr/>
        </p:nvSpPr>
        <p:spPr>
          <a:xfrm>
            <a:off x="6446520" y="3502152"/>
            <a:ext cx="4754880" cy="237744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 (4 Euler steps of Δt = 0.1)</a:t>
            </a:r>
          </a:p>
        </p:txBody>
      </p:sp>
      <p:sp>
        <p:nvSpPr>
          <p:cNvPr id="135" name="g3 ylabel"/>
          <p:cNvSpPr txBox="1"/>
          <p:nvPr/>
        </p:nvSpPr>
        <p:spPr>
          <a:xfrm>
            <a:off x="5687568" y="1783080"/>
            <a:ext cx="384048" cy="237744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1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A(t)</a:t>
            </a:r>
          </a:p>
        </p:txBody>
      </p:sp>
      <p:sp>
        <p:nvSpPr>
          <p:cNvPr id="136" name="g3 curve 0.9"/>
          <p:cNvSpPr/>
          <p:nvPr/>
        </p:nvSpPr>
        <p:spPr>
          <a:xfrm>
            <a:off x="6446520" y="1641348"/>
            <a:ext cx="4754880" cy="335736"/>
          </a:xfrm>
          <a:custGeom>
            <a:avLst/>
            <a:gdLst/>
            <a:ahLst/>
            <a:cxnLst/>
            <a:rect l="0" t="0" r="r" b="b"/>
            <a:pathLst>
              <a:path w="4754880" h="335736" fill="none">
                <a:moveTo>
                  <a:pt x="0" y="0"/>
                </a:moveTo>
                <a:lnTo>
                  <a:pt x="1188719" y="100089"/>
                </a:lnTo>
                <a:lnTo>
                  <a:pt x="2377440" y="188083"/>
                </a:lnTo>
                <a:lnTo>
                  <a:pt x="3566159" y="266086"/>
                </a:lnTo>
                <a:lnTo>
                  <a:pt x="4754880" y="335736"/>
                </a:lnTo>
              </a:path>
            </a:pathLst>
          </a:custGeom>
          <a:noFill/>
          <a:ln w="28575">
            <a:solidFill>
              <a:srgbClr val="091852"/>
            </a:solidFill>
          </a:ln>
        </p:spPr>
      </p:sp>
      <p:sp>
        <p:nvSpPr>
          <p:cNvPr id="137" name="g3 pt 0.9 0"/>
          <p:cNvSpPr txBox="1"/>
          <p:nvPr/>
        </p:nvSpPr>
        <p:spPr>
          <a:xfrm>
            <a:off x="6400800" y="1595628"/>
            <a:ext cx="91440" cy="91440"/>
          </a:xfrm>
          <a:prstGeom prst="ellipse">
            <a:avLst/>
          </a:prstGeom>
          <a:solidFill>
            <a:srgbClr val="091852"/>
          </a:solidFill>
          <a:ln w="19050"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</a:p>
        </p:txBody>
      </p:sp>
      <p:sp>
        <p:nvSpPr>
          <p:cNvPr id="138" name="g3 pt 0.9 1"/>
          <p:cNvSpPr txBox="1"/>
          <p:nvPr/>
        </p:nvSpPr>
        <p:spPr>
          <a:xfrm>
            <a:off x="7589519" y="1695717"/>
            <a:ext cx="91440" cy="91440"/>
          </a:xfrm>
          <a:prstGeom prst="ellipse">
            <a:avLst/>
          </a:prstGeom>
          <a:solidFill>
            <a:srgbClr val="091852"/>
          </a:solidFill>
          <a:ln w="19050"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</a:p>
        </p:txBody>
      </p:sp>
      <p:sp>
        <p:nvSpPr>
          <p:cNvPr id="139" name="g3 pt 0.9 2"/>
          <p:cNvSpPr txBox="1"/>
          <p:nvPr/>
        </p:nvSpPr>
        <p:spPr>
          <a:xfrm>
            <a:off x="8778240" y="1783711"/>
            <a:ext cx="91440" cy="91440"/>
          </a:xfrm>
          <a:prstGeom prst="ellipse">
            <a:avLst/>
          </a:prstGeom>
          <a:solidFill>
            <a:srgbClr val="091852"/>
          </a:solidFill>
          <a:ln w="19050"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</a:p>
        </p:txBody>
      </p:sp>
      <p:sp>
        <p:nvSpPr>
          <p:cNvPr id="140" name="g3 pt 0.9 3"/>
          <p:cNvSpPr txBox="1"/>
          <p:nvPr/>
        </p:nvSpPr>
        <p:spPr>
          <a:xfrm>
            <a:off x="9966959" y="1861714"/>
            <a:ext cx="91440" cy="91440"/>
          </a:xfrm>
          <a:prstGeom prst="ellipse">
            <a:avLst/>
          </a:prstGeom>
          <a:solidFill>
            <a:srgbClr val="091852"/>
          </a:solidFill>
          <a:ln w="19050"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</a:p>
        </p:txBody>
      </p:sp>
      <p:sp>
        <p:nvSpPr>
          <p:cNvPr id="141" name="g3 pt 0.9 4"/>
          <p:cNvSpPr txBox="1"/>
          <p:nvPr/>
        </p:nvSpPr>
        <p:spPr>
          <a:xfrm>
            <a:off x="11155680" y="1931364"/>
            <a:ext cx="91440" cy="91440"/>
          </a:xfrm>
          <a:prstGeom prst="ellipse">
            <a:avLst/>
          </a:prstGeom>
          <a:solidFill>
            <a:srgbClr val="091852"/>
          </a:solidFill>
          <a:ln w="19050"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</a:p>
        </p:txBody>
      </p:sp>
      <p:sp>
        <p:nvSpPr>
          <p:cNvPr id="142" name="g3 lab 0.9"/>
          <p:cNvSpPr txBox="1"/>
          <p:nvPr/>
        </p:nvSpPr>
        <p:spPr>
          <a:xfrm>
            <a:off x="11274552" y="1858212"/>
            <a:ext cx="685800" cy="237744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1100" b="1" baseline="-250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1100" b="1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0.9</a:t>
            </a:r>
          </a:p>
        </p:txBody>
      </p:sp>
      <p:sp>
        <p:nvSpPr>
          <p:cNvPr id="143" name="g3 curve 0.6"/>
          <p:cNvSpPr/>
          <p:nvPr/>
        </p:nvSpPr>
        <p:spPr>
          <a:xfrm>
            <a:off x="6446520" y="2176272"/>
            <a:ext cx="4754880" cy="157858"/>
          </a:xfrm>
          <a:custGeom>
            <a:avLst/>
            <a:gdLst/>
            <a:ahLst/>
            <a:cxnLst/>
            <a:rect l="0" t="0" r="r" b="b"/>
            <a:pathLst>
              <a:path w="4754880" h="157858" fill="none">
                <a:moveTo>
                  <a:pt x="0" y="0"/>
                </a:moveTo>
                <a:lnTo>
                  <a:pt x="1188719" y="44484"/>
                </a:lnTo>
                <a:lnTo>
                  <a:pt x="2377440" y="85346"/>
                </a:lnTo>
                <a:lnTo>
                  <a:pt x="3566159" y="123016"/>
                </a:lnTo>
                <a:lnTo>
                  <a:pt x="4754880" y="157858"/>
                </a:lnTo>
              </a:path>
            </a:pathLst>
          </a:custGeom>
          <a:noFill/>
          <a:ln w="28575">
            <a:solidFill>
              <a:srgbClr val="1D5F9E"/>
            </a:solidFill>
          </a:ln>
        </p:spPr>
      </p:sp>
      <p:sp>
        <p:nvSpPr>
          <p:cNvPr id="144" name="g3 pt 0.6 0"/>
          <p:cNvSpPr txBox="1"/>
          <p:nvPr/>
        </p:nvSpPr>
        <p:spPr>
          <a:xfrm>
            <a:off x="6400800" y="2130552"/>
            <a:ext cx="91440" cy="91440"/>
          </a:xfrm>
          <a:prstGeom prst="ellipse">
            <a:avLst/>
          </a:prstGeom>
          <a:solidFill>
            <a:srgbClr val="1D5F9E"/>
          </a:solidFill>
          <a:ln w="19050"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</a:p>
        </p:txBody>
      </p:sp>
      <p:sp>
        <p:nvSpPr>
          <p:cNvPr id="145" name="g3 pt 0.6 1"/>
          <p:cNvSpPr txBox="1"/>
          <p:nvPr/>
        </p:nvSpPr>
        <p:spPr>
          <a:xfrm>
            <a:off x="7589519" y="2175036"/>
            <a:ext cx="91440" cy="91440"/>
          </a:xfrm>
          <a:prstGeom prst="ellipse">
            <a:avLst/>
          </a:prstGeom>
          <a:solidFill>
            <a:srgbClr val="1D5F9E"/>
          </a:solidFill>
          <a:ln w="19050"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</a:p>
        </p:txBody>
      </p:sp>
      <p:sp>
        <p:nvSpPr>
          <p:cNvPr id="146" name="g3 pt 0.6 2"/>
          <p:cNvSpPr txBox="1"/>
          <p:nvPr/>
        </p:nvSpPr>
        <p:spPr>
          <a:xfrm>
            <a:off x="8778240" y="2215898"/>
            <a:ext cx="91440" cy="91440"/>
          </a:xfrm>
          <a:prstGeom prst="ellipse">
            <a:avLst/>
          </a:prstGeom>
          <a:solidFill>
            <a:srgbClr val="1D5F9E"/>
          </a:solidFill>
          <a:ln w="19050"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</a:p>
        </p:txBody>
      </p:sp>
      <p:sp>
        <p:nvSpPr>
          <p:cNvPr id="147" name="g3 pt 0.6 3"/>
          <p:cNvSpPr txBox="1"/>
          <p:nvPr/>
        </p:nvSpPr>
        <p:spPr>
          <a:xfrm>
            <a:off x="9966959" y="2253568"/>
            <a:ext cx="91440" cy="91440"/>
          </a:xfrm>
          <a:prstGeom prst="ellipse">
            <a:avLst/>
          </a:prstGeom>
          <a:solidFill>
            <a:srgbClr val="1D5F9E"/>
          </a:solidFill>
          <a:ln w="19050"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</a:p>
        </p:txBody>
      </p:sp>
      <p:sp>
        <p:nvSpPr>
          <p:cNvPr id="148" name="g3 pt 0.6 4"/>
          <p:cNvSpPr txBox="1"/>
          <p:nvPr/>
        </p:nvSpPr>
        <p:spPr>
          <a:xfrm>
            <a:off x="11155680" y="2288410"/>
            <a:ext cx="91440" cy="91440"/>
          </a:xfrm>
          <a:prstGeom prst="ellipse">
            <a:avLst/>
          </a:prstGeom>
          <a:solidFill>
            <a:srgbClr val="1D5F9E"/>
          </a:solidFill>
          <a:ln w="19050"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</a:p>
        </p:txBody>
      </p:sp>
      <p:sp>
        <p:nvSpPr>
          <p:cNvPr id="149" name="g3 lab 0.6"/>
          <p:cNvSpPr txBox="1"/>
          <p:nvPr/>
        </p:nvSpPr>
        <p:spPr>
          <a:xfrm>
            <a:off x="11274552" y="2215258"/>
            <a:ext cx="685800" cy="237744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1D5F9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1100" b="1" baseline="-25000">
                <a:solidFill>
                  <a:srgbClr val="1D5F9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1100" b="1">
                <a:solidFill>
                  <a:srgbClr val="1D5F9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0.6</a:t>
            </a:r>
          </a:p>
        </p:txBody>
      </p:sp>
      <p:sp>
        <p:nvSpPr>
          <p:cNvPr id="150" name="g3 curve 0.3"/>
          <p:cNvSpPr/>
          <p:nvPr/>
        </p:nvSpPr>
        <p:spPr>
          <a:xfrm>
            <a:off x="6446520" y="2711196"/>
            <a:ext cx="4754880" cy="41847"/>
          </a:xfrm>
          <a:custGeom>
            <a:avLst/>
            <a:gdLst/>
            <a:ahLst/>
            <a:cxnLst/>
            <a:rect l="0" t="0" r="r" b="b"/>
            <a:pathLst>
              <a:path w="4754880" h="41847" fill="none">
                <a:moveTo>
                  <a:pt x="0" y="0"/>
                </a:moveTo>
                <a:lnTo>
                  <a:pt x="1188719" y="11121"/>
                </a:lnTo>
                <a:lnTo>
                  <a:pt x="2377440" y="21784"/>
                </a:lnTo>
                <a:lnTo>
                  <a:pt x="3566159" y="32018"/>
                </a:lnTo>
                <a:lnTo>
                  <a:pt x="4754880" y="41847"/>
                </a:lnTo>
              </a:path>
            </a:pathLst>
          </a:custGeom>
          <a:noFill/>
          <a:ln w="28575">
            <a:solidFill>
              <a:srgbClr val="0096A6"/>
            </a:solidFill>
          </a:ln>
        </p:spPr>
      </p:sp>
      <p:sp>
        <p:nvSpPr>
          <p:cNvPr id="151" name="g3 pt 0.3 0"/>
          <p:cNvSpPr txBox="1"/>
          <p:nvPr/>
        </p:nvSpPr>
        <p:spPr>
          <a:xfrm>
            <a:off x="6400800" y="2665476"/>
            <a:ext cx="91440" cy="91440"/>
          </a:xfrm>
          <a:prstGeom prst="ellipse">
            <a:avLst/>
          </a:prstGeom>
          <a:solidFill>
            <a:srgbClr val="0096A6"/>
          </a:solidFill>
          <a:ln w="19050"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</a:p>
        </p:txBody>
      </p:sp>
      <p:sp>
        <p:nvSpPr>
          <p:cNvPr id="152" name="g3 pt 0.3 1"/>
          <p:cNvSpPr txBox="1"/>
          <p:nvPr/>
        </p:nvSpPr>
        <p:spPr>
          <a:xfrm>
            <a:off x="7589519" y="2676597"/>
            <a:ext cx="91440" cy="91440"/>
          </a:xfrm>
          <a:prstGeom prst="ellipse">
            <a:avLst/>
          </a:prstGeom>
          <a:solidFill>
            <a:srgbClr val="0096A6"/>
          </a:solidFill>
          <a:ln w="19050"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</a:p>
        </p:txBody>
      </p:sp>
      <p:sp>
        <p:nvSpPr>
          <p:cNvPr id="153" name="g3 pt 0.3 2"/>
          <p:cNvSpPr txBox="1"/>
          <p:nvPr/>
        </p:nvSpPr>
        <p:spPr>
          <a:xfrm>
            <a:off x="8778240" y="2687260"/>
            <a:ext cx="91440" cy="91440"/>
          </a:xfrm>
          <a:prstGeom prst="ellipse">
            <a:avLst/>
          </a:prstGeom>
          <a:solidFill>
            <a:srgbClr val="0096A6"/>
          </a:solidFill>
          <a:ln w="19050"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</a:p>
        </p:txBody>
      </p:sp>
      <p:sp>
        <p:nvSpPr>
          <p:cNvPr id="154" name="g3 pt 0.3 3"/>
          <p:cNvSpPr txBox="1"/>
          <p:nvPr/>
        </p:nvSpPr>
        <p:spPr>
          <a:xfrm>
            <a:off x="9966959" y="2697494"/>
            <a:ext cx="91440" cy="91440"/>
          </a:xfrm>
          <a:prstGeom prst="ellipse">
            <a:avLst/>
          </a:prstGeom>
          <a:solidFill>
            <a:srgbClr val="0096A6"/>
          </a:solidFill>
          <a:ln w="19050"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</a:p>
        </p:txBody>
      </p:sp>
      <p:sp>
        <p:nvSpPr>
          <p:cNvPr id="155" name="g3 pt 0.3 4"/>
          <p:cNvSpPr txBox="1"/>
          <p:nvPr/>
        </p:nvSpPr>
        <p:spPr>
          <a:xfrm>
            <a:off x="11155680" y="2707323"/>
            <a:ext cx="91440" cy="91440"/>
          </a:xfrm>
          <a:prstGeom prst="ellipse">
            <a:avLst/>
          </a:prstGeom>
          <a:solidFill>
            <a:srgbClr val="0096A6"/>
          </a:solidFill>
          <a:ln w="19050"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</a:p>
        </p:txBody>
      </p:sp>
      <p:sp>
        <p:nvSpPr>
          <p:cNvPr id="156" name="g3 lab 0.3"/>
          <p:cNvSpPr txBox="1"/>
          <p:nvPr/>
        </p:nvSpPr>
        <p:spPr>
          <a:xfrm>
            <a:off x="11274552" y="2634171"/>
            <a:ext cx="685800" cy="237744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096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1100" b="1" baseline="-25000">
                <a:solidFill>
                  <a:srgbClr val="0096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1100" b="1">
                <a:solidFill>
                  <a:srgbClr val="0096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0.3</a:t>
            </a:r>
          </a:p>
        </p:txBody>
      </p:sp>
      <p:pic>
        <p:nvPicPr>
          <p:cNvPr id="157" name="Learned NAC parameters (Figure 8)" descr="Learned NAC parameters (Figure 8)"/>
          <p:cNvPicPr>
            <a:picLocks noChangeAspect="1"/>
          </p:cNvPicPr>
          <p:nvPr/>
        </p:nvPicPr>
        <p:blipFill>
          <a:blip r:embed="rIdG31"/>
          <a:stretch>
            <a:fillRect/>
          </a:stretch>
        </p:blipFill>
        <p:spPr>
          <a:xfrm>
            <a:off x="457200" y="3931920"/>
            <a:ext cx="7955279" cy="2379177"/>
          </a:xfrm>
          <a:prstGeom prst="rect">
            <a:avLst/>
          </a:prstGeom>
          <a:ln w="9525">
            <a:solidFill>
              <a:srgbClr val="9FC9CF"/>
            </a:solidFill>
          </a:ln>
        </p:spPr>
      </p:pic>
      <p:sp>
        <p:nvSpPr>
          <p:cNvPr id="158" name="g3 learned box"/>
          <p:cNvSpPr txBox="1"/>
          <p:nvPr/>
        </p:nvSpPr>
        <p:spPr>
          <a:xfrm>
            <a:off x="8641080" y="3931920"/>
            <a:ext cx="3090672" cy="2377440"/>
          </a:xfrm>
          <a:prstGeom prst="roundRect">
            <a:avLst/>
          </a:prstGeom>
          <a:noFill/>
          <a:ln w="12700">
            <a:solidFill>
              <a:srgbClr val="0096A6"/>
            </a:solidFill>
          </a:ln>
        </p:spPr>
        <p:txBody>
          <a:bodyPr wrap="square" lIns="91440" tIns="91440" rIns="91440" bIns="91440" anchor="ctr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500" b="1">
                <a:solidFill>
                  <a:srgbClr val="0096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Learned after fine-tuning</a:t>
            </a:r>
          </a:p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φ 0.686–0.691</a:t>
            </a:r>
          </a:p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ω 0.695–0.699</a:t>
            </a:r>
          </a:p>
          <a:p>
            <a:pPr marL="0" indent="0" algn="ctr" rtl="0" lv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5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τ 1.430–1.440</a:t>
            </a:r>
          </a:p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i="1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Gates stayed close to the initial ≈ 0.693 (τ ≈ 1.44)</a:t>
            </a:r>
          </a:p>
        </p:txBody>
      </p:sp>
      <p:sp>
        <p:nvSpPr>
          <p:cNvPr id="159" name="g3 fig8 caption"/>
          <p:cNvSpPr txBox="1"/>
          <p:nvPr/>
        </p:nvSpPr>
        <p:spPr>
          <a:xfrm>
            <a:off x="457200" y="6356817"/>
            <a:ext cx="7955279" cy="256032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1">
                <a:solidFill>
                  <a:srgbClr val="5A6A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 run: learned φ, ω, τ per block (rows) and head (columns), pooled checkpoint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9abc5bc8b_0_0"/>
          <p:cNvSpPr txBox="1"/>
          <p:nvPr>
            <p:ph type="title"/>
          </p:nvPr>
        </p:nvSpPr>
        <p:spPr>
          <a:xfrm>
            <a:off x="1808100" y="0"/>
            <a:ext cx="8229600" cy="853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&amp; Experimental Setup</a:t>
            </a:r>
          </a:p>
        </p:txBody>
      </p:sp>
      <p:sp>
        <p:nvSpPr>
          <p:cNvPr id="120" name="g3 t1 head"/>
          <p:cNvSpPr txBox="1"/>
          <p:nvPr/>
        </p:nvSpPr>
        <p:spPr>
          <a:xfrm>
            <a:off x="457200" y="1005840"/>
            <a:ext cx="5303520" cy="329184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0096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Classification archive — class counts (Table 1)</a:t>
            </a:r>
          </a:p>
        </p:txBody>
      </p:sp>
      <p:graphicFrame>
        <p:nvGraphicFramePr>
          <p:cNvPr id="121" name="g3 class table"/>
          <p:cNvGraphicFramePr>
            <a:graphicFrameLocks noGrp="1"/>
          </p:cNvGraphicFramePr>
          <p:nvPr/>
        </p:nvGraphicFramePr>
        <p:xfrm>
          <a:off x="457200" y="1371600"/>
          <a:ext cx="5303520" cy="2249424"/>
        </p:xfrm>
        <a:graphic>
          <a:graphicData uri="http://schemas.openxmlformats.org/drawingml/2006/table">
            <a:tbl>
              <a:tblPr firstRow="1" bandRow="1"/>
              <a:tblGrid>
                <a:gridCol w="1554480"/>
                <a:gridCol w="1325880"/>
                <a:gridCol w="1280160"/>
                <a:gridCol w="1143000"/>
              </a:tblGrid>
              <a:tr h="374904">
                <a:tc>
                  <a:txBody>
                    <a:bodyPr/>
                    <a:lstStyle/>
                    <a:p>
                      <a:pPr marL="0" indent="0" algn="ctr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Class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0918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Training folder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0918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Testing folder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0918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09185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marL="0" indent="0" algn="l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Glioma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EA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826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EA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EA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926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EAF5F7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marL="0" indent="0" algn="l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Meningioma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822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115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937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marL="0" indent="0" algn="l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tumor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EA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395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EA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105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EA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500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EAF5F7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marL="0" indent="0" algn="l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Pituitary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827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74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901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marL="0" indent="0" algn="l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EA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2,870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EA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394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EA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3,264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EAF5F7"/>
                    </a:solidFill>
                  </a:tcPr>
                </a:tc>
              </a:tr>
            </a:tbl>
          </a:graphicData>
        </a:graphic>
      </p:graphicFrame>
      <p:sp>
        <p:nvSpPr>
          <p:cNvPr id="122" name="g3 split head"/>
          <p:cNvSpPr txBox="1"/>
          <p:nvPr/>
        </p:nvSpPr>
        <p:spPr>
          <a:xfrm>
            <a:off x="457200" y="3840480"/>
            <a:ext cx="5303520" cy="329184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0096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Protocol A: pooled, stratified 80/10/10, seed 42</a:t>
            </a:r>
          </a:p>
        </p:txBody>
      </p:sp>
      <p:sp>
        <p:nvSpPr>
          <p:cNvPr id="123" name="g3 split 0"/>
          <p:cNvSpPr txBox="1"/>
          <p:nvPr/>
        </p:nvSpPr>
        <p:spPr>
          <a:xfrm>
            <a:off x="457200" y="4224528"/>
            <a:ext cx="1664208" cy="868680"/>
          </a:xfrm>
          <a:prstGeom prst="roundRect">
            <a:avLst/>
          </a:prstGeom>
          <a:solidFill>
            <a:srgbClr val="EAF5F7"/>
          </a:solidFill>
          <a:ln w="9525">
            <a:solidFill>
              <a:srgbClr val="9FC9CF"/>
            </a:solidFill>
          </a:ln>
        </p:spPr>
        <p:txBody>
          <a:bodyPr wrap="square" lIns="36576" tIns="36576" rIns="36576" bIns="36576" anchor="ctr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2,609</a:t>
            </a:r>
          </a:p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</a:t>
            </a:r>
          </a:p>
        </p:txBody>
      </p:sp>
      <p:sp>
        <p:nvSpPr>
          <p:cNvPr id="124" name="g3 split 1"/>
          <p:cNvSpPr txBox="1"/>
          <p:nvPr/>
        </p:nvSpPr>
        <p:spPr>
          <a:xfrm>
            <a:off x="2267712" y="4224528"/>
            <a:ext cx="1664208" cy="868680"/>
          </a:xfrm>
          <a:prstGeom prst="roundRect">
            <a:avLst/>
          </a:prstGeom>
          <a:solidFill>
            <a:srgbClr val="EAF5F7"/>
          </a:solidFill>
          <a:ln w="9525">
            <a:solidFill>
              <a:srgbClr val="9FC9CF"/>
            </a:solidFill>
          </a:ln>
        </p:spPr>
        <p:txBody>
          <a:bodyPr wrap="square" lIns="36576" tIns="36576" rIns="36576" bIns="36576" anchor="ctr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325</a:t>
            </a:r>
          </a:p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validation</a:t>
            </a:r>
          </a:p>
        </p:txBody>
      </p:sp>
      <p:sp>
        <p:nvSpPr>
          <p:cNvPr id="125" name="g3 split 2"/>
          <p:cNvSpPr txBox="1"/>
          <p:nvPr/>
        </p:nvSpPr>
        <p:spPr>
          <a:xfrm>
            <a:off x="4078224" y="4224528"/>
            <a:ext cx="1664208" cy="868680"/>
          </a:xfrm>
          <a:prstGeom prst="roundRect">
            <a:avLst/>
          </a:prstGeom>
          <a:solidFill>
            <a:srgbClr val="091852"/>
          </a:solidFill>
          <a:ln w="9525">
            <a:solidFill>
              <a:srgbClr val="091852"/>
            </a:solidFill>
          </a:ln>
        </p:spPr>
        <p:txBody>
          <a:bodyPr wrap="square" lIns="36576" tIns="36576" rIns="36576" bIns="36576" anchor="ctr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330</a:t>
            </a:r>
          </a:p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</a:t>
            </a:r>
          </a:p>
        </p:txBody>
      </p:sp>
      <p:sp>
        <p:nvSpPr>
          <p:cNvPr id="126" name="g3 protoB"/>
          <p:cNvSpPr txBox="1"/>
          <p:nvPr/>
        </p:nvSpPr>
        <p:spPr>
          <a:xfrm>
            <a:off x="457200" y="5212080"/>
            <a:ext cx="5303520" cy="868680"/>
          </a:xfrm>
          <a:prstGeom prst="rect">
            <a:avLst/>
          </a:prstGeom>
          <a:noFill/>
          <a:ln w="19050">
            <a:noFill/>
          </a:ln>
        </p:spPr>
        <p:txBody>
          <a:bodyPr wrap="square" lIns="91425" tIns="45700" rIns="91425" bIns="45700" anchor="t" rtlCol="0">
            <a:noAutofit/>
          </a:bodyPr>
          <a:lstStyle/>
          <a:p>
            <a:pPr marL="0" indent="0" algn="l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0096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Protocol B: </a:t>
            </a:r>
            <a:r>
              <a:rPr lang="en-US" sz="15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archive Testing folder (394) kept intact as external test; stratified 10% of Training folder for validation</a:t>
            </a:r>
          </a:p>
        </p:txBody>
      </p:sp>
      <p:sp>
        <p:nvSpPr>
          <p:cNvPr id="127" name="g3 t2 head"/>
          <p:cNvSpPr txBox="1"/>
          <p:nvPr/>
        </p:nvSpPr>
        <p:spPr>
          <a:xfrm>
            <a:off x="6035040" y="1005840"/>
            <a:ext cx="5669280" cy="329184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0096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&amp; optimisation (Table 2, both protocols)</a:t>
            </a:r>
          </a:p>
        </p:txBody>
      </p:sp>
      <p:graphicFrame>
        <p:nvGraphicFramePr>
          <p:cNvPr id="128" name="g3 config table"/>
          <p:cNvGraphicFramePr>
            <a:graphicFrameLocks noGrp="1"/>
          </p:cNvGraphicFramePr>
          <p:nvPr/>
        </p:nvGraphicFramePr>
        <p:xfrm>
          <a:off x="6035040" y="1371600"/>
          <a:ext cx="5696712" cy="4572000"/>
        </p:xfrm>
        <a:graphic>
          <a:graphicData uri="http://schemas.openxmlformats.org/drawingml/2006/table">
            <a:tbl>
              <a:tblPr firstRow="1" bandRow="1"/>
              <a:tblGrid>
                <a:gridCol w="1600200"/>
                <a:gridCol w="4096512"/>
              </a:tblGrid>
              <a:tr h="457200">
                <a:tc>
                  <a:txBody>
                    <a:bodyPr/>
                    <a:lstStyle/>
                    <a:p>
                      <a:pPr marL="0" indent="0" algn="ctr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Component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0918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Setting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09185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Backbone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EA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ViT-B/16, ImageNet-1K, all parameters trained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EA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Attention blocks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blocks, 4 heads, width 160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Integration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EA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Euler steps, Δt = 0.1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EA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Loss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Cross-entropy, label smoothing 0.1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Optimizer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EA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AdamW, weight decay 0.05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EA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Learning rates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× 10</a:t>
                      </a:r>
                      <a:r>
                        <a:rPr lang="en-US" sz="1300" baseline="30000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−5</a:t>
                      </a:r>
                      <a:r>
                        <a:rPr lang="en-US" sz="1300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backbone · 1 × 10</a:t>
                      </a:r>
                      <a:r>
                        <a:rPr lang="en-US" sz="1300" baseline="30000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−4</a:t>
                      </a:r>
                      <a:r>
                        <a:rPr lang="en-US" sz="1300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blocks + head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Schedule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EA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2-epoch warmup → cosine; stop after 8 epochs w/o val gain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EA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Batch / hardware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 · NVIDIA RTX A5000, 22 GB · PyTorch 2.5.1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Parameters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EA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88.10 M, all trainable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EA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9abc5bc8b_0_0"/>
          <p:cNvSpPr txBox="1"/>
          <p:nvPr>
            <p:ph type="title"/>
          </p:nvPr>
        </p:nvSpPr>
        <p:spPr>
          <a:xfrm>
            <a:off x="1808100" y="0"/>
            <a:ext cx="8229600" cy="853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— Pooled Test Set</a:t>
            </a:r>
          </a:p>
        </p:txBody>
      </p:sp>
      <p:sp>
        <p:nvSpPr>
          <p:cNvPr id="120" name="g3 protocol banner"/>
          <p:cNvSpPr txBox="1"/>
          <p:nvPr/>
        </p:nvSpPr>
        <p:spPr>
          <a:xfrm>
            <a:off x="457200" y="987552"/>
            <a:ext cx="11274552" cy="457200"/>
          </a:xfrm>
          <a:prstGeom prst="rect">
            <a:avLst/>
          </a:prstGeom>
          <a:solidFill>
            <a:srgbClr val="0096A6"/>
          </a:solidFill>
          <a:ln w="19050"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PROTOCOL A  ·  pooled stratified 80/10/10 split (seed 42)  ·  held-out test n = 330</a:t>
            </a:r>
          </a:p>
        </p:txBody>
      </p:sp>
      <p:sp>
        <p:nvSpPr>
          <p:cNvPr id="121" name="g3 big acc"/>
          <p:cNvSpPr txBox="1"/>
          <p:nvPr/>
        </p:nvSpPr>
        <p:spPr>
          <a:xfrm>
            <a:off x="457200" y="1600200"/>
            <a:ext cx="5394960" cy="960120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>
                <a:solidFill>
                  <a:srgbClr val="0096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96.36%</a:t>
            </a:r>
          </a:p>
        </p:txBody>
      </p:sp>
      <p:sp>
        <p:nvSpPr>
          <p:cNvPr id="122" name="g3 big acc sub"/>
          <p:cNvSpPr txBox="1"/>
          <p:nvPr/>
        </p:nvSpPr>
        <p:spPr>
          <a:xfrm>
            <a:off x="457200" y="2606040"/>
            <a:ext cx="5394960" cy="384048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accuracy: 318 / 330 correct</a:t>
            </a:r>
          </a:p>
        </p:txBody>
      </p:sp>
      <p:sp>
        <p:nvSpPr>
          <p:cNvPr id="123" name="g3 big acc ci"/>
          <p:cNvSpPr txBox="1"/>
          <p:nvPr/>
        </p:nvSpPr>
        <p:spPr>
          <a:xfrm>
            <a:off x="457200" y="3017520"/>
            <a:ext cx="5394960" cy="329184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95% Wilson score CI 93.8–97.9%</a:t>
            </a:r>
          </a:p>
        </p:txBody>
      </p:sp>
      <p:sp>
        <p:nvSpPr>
          <p:cNvPr id="124" name="g3 rule"/>
          <p:cNvSpPr/>
          <p:nvPr/>
        </p:nvSpPr>
        <p:spPr>
          <a:xfrm>
            <a:off x="914400" y="3520440"/>
            <a:ext cx="4480560" cy="1"/>
          </a:xfrm>
          <a:custGeom>
            <a:avLst/>
            <a:gdLst/>
            <a:ahLst/>
            <a:cxnLst/>
            <a:rect l="0" t="0" r="r" b="b"/>
            <a:pathLst>
              <a:path w="4480560" h="1" fill="none">
                <a:moveTo>
                  <a:pt x="0" y="0"/>
                </a:moveTo>
                <a:lnTo>
                  <a:pt x="4480560" y="0"/>
                </a:lnTo>
              </a:path>
            </a:pathLst>
          </a:custGeom>
          <a:noFill/>
          <a:ln w="9525">
            <a:solidFill>
              <a:srgbClr val="9FC9CF"/>
            </a:solidFill>
          </a:ln>
        </p:spPr>
      </p:sp>
      <p:sp>
        <p:nvSpPr>
          <p:cNvPr id="125" name="g3 mid 0"/>
          <p:cNvSpPr txBox="1"/>
          <p:nvPr/>
        </p:nvSpPr>
        <p:spPr>
          <a:xfrm>
            <a:off x="457200" y="3639312"/>
            <a:ext cx="2697480" cy="685800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0.964</a:t>
            </a:r>
          </a:p>
        </p:txBody>
      </p:sp>
      <p:sp>
        <p:nvSpPr>
          <p:cNvPr id="126" name="g3 mid lab 0"/>
          <p:cNvSpPr txBox="1"/>
          <p:nvPr/>
        </p:nvSpPr>
        <p:spPr>
          <a:xfrm>
            <a:off x="457200" y="4315968"/>
            <a:ext cx="2697480" cy="310896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Macro F1</a:t>
            </a:r>
          </a:p>
        </p:txBody>
      </p:sp>
      <p:sp>
        <p:nvSpPr>
          <p:cNvPr id="127" name="g3 mid 1"/>
          <p:cNvSpPr txBox="1"/>
          <p:nvPr/>
        </p:nvSpPr>
        <p:spPr>
          <a:xfrm>
            <a:off x="3154680" y="3639312"/>
            <a:ext cx="2697480" cy="685800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0.998</a:t>
            </a:r>
          </a:p>
        </p:txBody>
      </p:sp>
      <p:sp>
        <p:nvSpPr>
          <p:cNvPr id="128" name="g3 mid lab 1"/>
          <p:cNvSpPr txBox="1"/>
          <p:nvPr/>
        </p:nvSpPr>
        <p:spPr>
          <a:xfrm>
            <a:off x="3154680" y="4315968"/>
            <a:ext cx="2697480" cy="310896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Macro one-vs-rest AUC</a:t>
            </a:r>
          </a:p>
        </p:txBody>
      </p:sp>
      <p:sp>
        <p:nvSpPr>
          <p:cNvPr id="129" name="g3 val box"/>
          <p:cNvSpPr txBox="1"/>
          <p:nvPr/>
        </p:nvSpPr>
        <p:spPr>
          <a:xfrm>
            <a:off x="457200" y="4846320"/>
            <a:ext cx="5394960" cy="1280160"/>
          </a:xfrm>
          <a:prstGeom prst="roundRect">
            <a:avLst/>
          </a:prstGeom>
          <a:noFill/>
          <a:ln w="12700">
            <a:solidFill>
              <a:srgbClr val="5A6A7A"/>
            </a:solidFill>
            <a:prstDash val="dash"/>
          </a:ln>
        </p:spPr>
        <p:txBody>
          <a:bodyPr wrap="square" lIns="91440" tIns="91440" rIns="91440" bIns="91440" anchor="ctr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b="1">
                <a:solidFill>
                  <a:srgbClr val="5A6A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Validation set (n = 325) — not test</a:t>
            </a:r>
          </a:p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Best validation accuracy 97.85% at epoch 9 (checkpoint retained); training stopped at epoch 17 of 40</a:t>
            </a:r>
          </a:p>
        </p:txBody>
      </p:sp>
      <p:pic>
        <p:nvPicPr>
          <p:cNvPr id="130" name="Training curves, pooled run (Figure 1)" descr="Training curves, pooled run (Figure 1)"/>
          <p:cNvPicPr>
            <a:picLocks noChangeAspect="1"/>
          </p:cNvPicPr>
          <p:nvPr/>
        </p:nvPicPr>
        <p:blipFill>
          <a:blip r:embed="rIdG32"/>
          <a:stretch>
            <a:fillRect/>
          </a:stretch>
        </p:blipFill>
        <p:spPr>
          <a:xfrm>
            <a:off x="6108192" y="1627632"/>
            <a:ext cx="5623560" cy="3730879"/>
          </a:xfrm>
          <a:prstGeom prst="rect">
            <a:avLst/>
          </a:prstGeom>
          <a:ln w="9525">
            <a:solidFill>
              <a:srgbClr val="9FC9CF"/>
            </a:solidFill>
          </a:ln>
        </p:spPr>
      </p:pic>
      <p:sp>
        <p:nvSpPr>
          <p:cNvPr id="131" name="g3 fig1 caption"/>
          <p:cNvSpPr txBox="1"/>
          <p:nvPr/>
        </p:nvSpPr>
        <p:spPr>
          <a:xfrm>
            <a:off x="6108192" y="5404231"/>
            <a:ext cx="5623560" cy="274320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1">
                <a:solidFill>
                  <a:srgbClr val="5A6A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 run (pooled): dashed line = epoch 9, checkpoint selected by validation accuracy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9abc5bc8b_0_0"/>
          <p:cNvSpPr txBox="1"/>
          <p:nvPr>
            <p:ph type="title"/>
          </p:nvPr>
        </p:nvSpPr>
        <p:spPr>
          <a:xfrm>
            <a:off x="1808100" y="0"/>
            <a:ext cx="8229600" cy="853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Per-Class Results — Pooled Test</a:t>
            </a:r>
          </a:p>
        </p:txBody>
      </p:sp>
      <p:sp>
        <p:nvSpPr>
          <p:cNvPr id="120" name="g4 protocol banner"/>
          <p:cNvSpPr txBox="1"/>
          <p:nvPr/>
        </p:nvSpPr>
        <p:spPr>
          <a:xfrm>
            <a:off x="457200" y="987552"/>
            <a:ext cx="11274552" cy="438912"/>
          </a:xfrm>
          <a:prstGeom prst="rect">
            <a:avLst/>
          </a:prstGeom>
          <a:solidFill>
            <a:srgbClr val="0096A6"/>
          </a:solidFill>
          <a:ln w="19050"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PROTOCOL A  ·  pooled stratified 80/10/10 split (seed 42)  ·  test n = 330</a:t>
            </a:r>
          </a:p>
        </p:txBody>
      </p:sp>
      <p:graphicFrame>
        <p:nvGraphicFramePr>
          <p:cNvPr id="121" name="g4 perclass table"/>
          <p:cNvGraphicFramePr>
            <a:graphicFrameLocks noGrp="1"/>
          </p:cNvGraphicFramePr>
          <p:nvPr/>
        </p:nvGraphicFramePr>
        <p:xfrm>
          <a:off x="457200" y="1645920"/>
          <a:ext cx="5212080" cy="2286000"/>
        </p:xfrm>
        <a:graphic>
          <a:graphicData uri="http://schemas.openxmlformats.org/drawingml/2006/table">
            <a:tbl>
              <a:tblPr firstRow="1" bandRow="1"/>
              <a:tblGrid>
                <a:gridCol w="1325880"/>
                <a:gridCol w="914400"/>
                <a:gridCol w="777240"/>
                <a:gridCol w="640080"/>
                <a:gridCol w="685800"/>
                <a:gridCol w="868680"/>
              </a:tblGrid>
              <a:tr h="457200">
                <a:tc>
                  <a:txBody>
                    <a:bodyPr/>
                    <a:lstStyle/>
                    <a:p>
                      <a:pPr marL="0" indent="0" algn="ctr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Class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0918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Precision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0918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Recall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0918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F1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0918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AUC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0918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Support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09185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Glioma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EA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0.967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EA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0.936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EA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0.951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EA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0.995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EA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94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EA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Meningioma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0.949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0.979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0.964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0.999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95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tumor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EA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0.926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EA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1.000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EA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0.962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EA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1.000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EA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EA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Pituitary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1.000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0.956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0.978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1.000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91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2" name="g4 t4 caption"/>
          <p:cNvSpPr txBox="1"/>
          <p:nvPr/>
        </p:nvSpPr>
        <p:spPr>
          <a:xfrm>
            <a:off x="457200" y="3986784"/>
            <a:ext cx="5166360" cy="274320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1">
                <a:solidFill>
                  <a:srgbClr val="5A6A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Paper Table 4 (verified against results.json)</a:t>
            </a:r>
          </a:p>
        </p:txBody>
      </p:sp>
      <p:pic>
        <p:nvPicPr>
          <p:cNvPr id="123" name="Pooled test confusion matrix (Figure 3)" descr="Pooled test confusion matrix (Figure 3)"/>
          <p:cNvPicPr>
            <a:picLocks noChangeAspect="1"/>
          </p:cNvPicPr>
          <p:nvPr/>
        </p:nvPicPr>
        <p:blipFill>
          <a:blip r:embed="rIdG31"/>
          <a:stretch>
            <a:fillRect/>
          </a:stretch>
        </p:blipFill>
        <p:spPr>
          <a:xfrm>
            <a:off x="5788152" y="1645920"/>
            <a:ext cx="5943600" cy="2581800"/>
          </a:xfrm>
          <a:prstGeom prst="rect">
            <a:avLst/>
          </a:prstGeom>
          <a:ln w="9525">
            <a:solidFill>
              <a:srgbClr val="9FC9CF"/>
            </a:solidFill>
          </a:ln>
        </p:spPr>
      </p:pic>
      <p:sp>
        <p:nvSpPr>
          <p:cNvPr id="124" name="g4 fig3 caption"/>
          <p:cNvSpPr txBox="1"/>
          <p:nvPr/>
        </p:nvSpPr>
        <p:spPr>
          <a:xfrm>
            <a:off x="5788152" y="4282584"/>
            <a:ext cx="5943600" cy="274320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1">
                <a:solidFill>
                  <a:srgbClr val="5A6A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 run: pooled test confusion matrix, counts and row-normalised (Figure 3)</a:t>
            </a:r>
          </a:p>
        </p:txBody>
      </p:sp>
      <p:sp>
        <p:nvSpPr>
          <p:cNvPr id="125" name="g4 take 0"/>
          <p:cNvSpPr txBox="1"/>
          <p:nvPr/>
        </p:nvSpPr>
        <p:spPr>
          <a:xfrm>
            <a:off x="457200" y="4663440"/>
            <a:ext cx="3648456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6A6"/>
            </a:solidFill>
          </a:ln>
        </p:spPr>
        <p:txBody>
          <a:bodyPr wrap="square" lIns="91440" tIns="91440" rIns="91440" bIns="91440" anchor="ctr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700" b="1">
                <a:solidFill>
                  <a:srgbClr val="0096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 errors of 330</a:t>
            </a:r>
          </a:p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 of 12 at predicted-class probability ≥ 0.90</a:t>
            </a:r>
          </a:p>
        </p:txBody>
      </p:sp>
      <p:sp>
        <p:nvSpPr>
          <p:cNvPr id="126" name="g4 take 1"/>
          <p:cNvSpPr txBox="1"/>
          <p:nvPr/>
        </p:nvSpPr>
        <p:spPr>
          <a:xfrm>
            <a:off x="4270248" y="4663440"/>
            <a:ext cx="3648456" cy="1417320"/>
          </a:xfrm>
          <a:prstGeom prst="roundRect">
            <a:avLst/>
          </a:prstGeom>
          <a:solidFill>
            <a:srgbClr val="EAF5F7"/>
          </a:solidFill>
          <a:ln w="12700">
            <a:solidFill>
              <a:srgbClr val="9FC9CF"/>
            </a:solidFill>
          </a:ln>
        </p:spPr>
        <p:txBody>
          <a:bodyPr wrap="square" lIns="91440" tIns="91440" rIns="91440" bIns="91440" anchor="ctr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700" b="1">
                <a:solidFill>
                  <a:srgbClr val="0096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Glioma ↔ meningioma</a:t>
            </a:r>
          </a:p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main boundary: 3 glioma → meningioma, 2 meningioma → glioma</a:t>
            </a:r>
          </a:p>
        </p:txBody>
      </p:sp>
      <p:sp>
        <p:nvSpPr>
          <p:cNvPr id="127" name="g4 take 2"/>
          <p:cNvSpPr txBox="1"/>
          <p:nvPr/>
        </p:nvSpPr>
        <p:spPr>
          <a:xfrm>
            <a:off x="8083296" y="4663440"/>
            <a:ext cx="3648456" cy="1417320"/>
          </a:xfrm>
          <a:prstGeom prst="roundRect">
            <a:avLst/>
          </a:prstGeom>
          <a:solidFill>
            <a:srgbClr val="EAF5F7"/>
          </a:solidFill>
          <a:ln w="12700">
            <a:solidFill>
              <a:srgbClr val="9FC9CF"/>
            </a:solidFill>
          </a:ln>
        </p:spPr>
        <p:txBody>
          <a:bodyPr wrap="square" lIns="91440" tIns="91440" rIns="91440" bIns="91440" anchor="ctr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700" b="1">
                <a:solidFill>
                  <a:srgbClr val="0096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tumor</a:t>
            </a:r>
          </a:p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contributed no errors (recall 1.000)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9abc5bc8b_0_0"/>
          <p:cNvSpPr txBox="1"/>
          <p:nvPr>
            <p:ph type="title"/>
          </p:nvPr>
        </p:nvSpPr>
        <p:spPr>
          <a:xfrm>
            <a:off x="1808100" y="0"/>
            <a:ext cx="8229600" cy="853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 Protocols, Two Measurements</a:t>
            </a:r>
          </a:p>
        </p:txBody>
      </p:sp>
      <p:graphicFrame>
        <p:nvGraphicFramePr>
          <p:cNvPr id="120" name="g4 protocol table"/>
          <p:cNvGraphicFramePr>
            <a:graphicFrameLocks noGrp="1"/>
          </p:cNvGraphicFramePr>
          <p:nvPr/>
        </p:nvGraphicFramePr>
        <p:xfrm>
          <a:off x="457200" y="1051560"/>
          <a:ext cx="11274551" cy="3438144"/>
        </p:xfrm>
        <a:graphic>
          <a:graphicData uri="http://schemas.openxmlformats.org/drawingml/2006/table">
            <a:tbl>
              <a:tblPr firstRow="1" bandRow="1"/>
              <a:tblGrid>
                <a:gridCol w="3776472"/>
                <a:gridCol w="3749039"/>
                <a:gridCol w="3749039"/>
              </a:tblGrid>
              <a:tr h="429768">
                <a:tc>
                  <a:txBody>
                    <a:bodyPr/>
                    <a:lstStyle/>
                    <a:p>
                      <a:pPr marL="0" indent="0" algn="ctr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Measure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0918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Protocol A — pooled test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0918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Protocol B — archive Testing folder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09185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l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Test images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EA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330 (10% stratified, seed 42)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EA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394 (folder kept intact)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EAF5F7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l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Correct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318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309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l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Accuracy (95% Wilson CI)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EA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96.36% (93.8–97.9%)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EA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78.43% (74.1–82.2%)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EAF5F7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l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Macro F1  ·  macro AUC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0.964  ·  0.998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0.750  ·  0.924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l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Glioma recall  ·  precision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EA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0.936  ·  0.967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EA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solidFill>
                            <a:srgbClr val="B03A2E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0.240  ·  1.000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EAF5F7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l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Meningioma recall  ·  precision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0.979  ·  0.949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1.000  ·  0.669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l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Validation accuracy (model selection)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EA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97.85%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EA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99.30%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EAF5F7"/>
                    </a:solidFill>
                  </a:tcPr>
                </a:tc>
              </a:tr>
            </a:tbl>
          </a:graphicData>
        </a:graphic>
      </p:graphicFrame>
      <p:sp>
        <p:nvSpPr>
          <p:cNvPr id="121" name="g4 shows"/>
          <p:cNvSpPr txBox="1"/>
          <p:nvPr/>
        </p:nvSpPr>
        <p:spPr>
          <a:xfrm>
            <a:off x="457200" y="4636008"/>
            <a:ext cx="5532120" cy="1508760"/>
          </a:xfrm>
          <a:prstGeom prst="roundRect">
            <a:avLst/>
          </a:prstGeom>
          <a:noFill/>
          <a:ln w="12700">
            <a:solidFill>
              <a:srgbClr val="0096A6"/>
            </a:solidFill>
          </a:ln>
        </p:spPr>
        <p:txBody>
          <a:bodyPr wrap="square" lIns="91440" tIns="91440" rIns="91440" bIns="91440" anchor="ctr" rtlCol="0">
            <a:noAutofit/>
          </a:bodyPr>
          <a:lstStyle/>
          <a:p>
            <a:pPr marL="0" indent="0" algn="l" rtl="0" lvl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600" b="1">
                <a:solidFill>
                  <a:srgbClr val="0096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the two numbers show</a:t>
            </a:r>
          </a:p>
          <a:p>
            <a:pPr marL="228600" indent="-228600" algn="l" rtl="0" lvl="0">
              <a:spcBef>
                <a:spcPts val="0"/>
              </a:spcBef>
              <a:spcAft>
                <a:spcPts val="300"/>
              </a:spcAft>
              <a:buClr>
                <a:srgbClr val="0096A6"/>
              </a:buClr>
              <a:buFont typeface="Arial"/>
              <a:buChar char="•"/>
            </a:pPr>
            <a:r>
              <a:rPr lang="en-US" sz="14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Same recipe, different test sets: separate estimates, not one averaged result; the CIs do not overlap.</a:t>
            </a:r>
          </a:p>
          <a:p>
            <a:pPr marL="228600" indent="-228600" algn="l" rtl="0" lvl="0">
              <a:spcBef>
                <a:spcPts val="0"/>
              </a:spcBef>
              <a:spcAft>
                <a:spcPts val="0"/>
              </a:spcAft>
              <a:buClr>
                <a:srgbClr val="0096A6"/>
              </a:buClr>
              <a:buFont typeface="Arial"/>
              <a:buChar char="•"/>
            </a:pPr>
            <a:r>
              <a:rPr lang="en-US" sz="14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drop is concentrated in glioma: 76 of 100 Testing-folder gliomas were assigned to other classes.</a:t>
            </a:r>
          </a:p>
        </p:txBody>
      </p:sp>
      <p:sp>
        <p:nvSpPr>
          <p:cNvPr id="122" name="g4 implies"/>
          <p:cNvSpPr txBox="1"/>
          <p:nvPr/>
        </p:nvSpPr>
        <p:spPr>
          <a:xfrm>
            <a:off x="6199632" y="4636008"/>
            <a:ext cx="5532120" cy="1508760"/>
          </a:xfrm>
          <a:prstGeom prst="roundRect">
            <a:avLst/>
          </a:prstGeom>
          <a:solidFill>
            <a:srgbClr val="EAF5F7"/>
          </a:solidFill>
          <a:ln w="12700">
            <a:solidFill>
              <a:srgbClr val="9FC9CF"/>
            </a:solidFill>
          </a:ln>
        </p:spPr>
        <p:txBody>
          <a:bodyPr wrap="square" lIns="91440" tIns="91440" rIns="91440" bIns="91440" anchor="ctr" rtlCol="0">
            <a:noAutofit/>
          </a:bodyPr>
          <a:lstStyle/>
          <a:p>
            <a:pPr marL="0" indent="0" algn="l" rtl="0" lvl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600" b="1">
                <a:solidFill>
                  <a:srgbClr val="0096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Implications for generalization</a:t>
            </a:r>
          </a:p>
          <a:p>
            <a:pPr marL="228600" indent="-228600" algn="l" rtl="0" lvl="0">
              <a:spcBef>
                <a:spcPts val="0"/>
              </a:spcBef>
              <a:spcAft>
                <a:spcPts val="300"/>
              </a:spcAft>
              <a:buClr>
                <a:srgbClr val="0096A6"/>
              </a:buClr>
              <a:buFont typeface="Arial"/>
              <a:buChar char="•"/>
            </a:pPr>
            <a:r>
              <a:rPr lang="en-US" sz="14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A: a within-collection estimate; it may overestimate performance on unseen patients.</a:t>
            </a:r>
          </a:p>
          <a:p>
            <a:pPr marL="228600" indent="-228600" algn="l" rtl="0" lvl="0">
              <a:spcBef>
                <a:spcPts val="0"/>
              </a:spcBef>
              <a:spcAft>
                <a:spcPts val="0"/>
              </a:spcAft>
              <a:buClr>
                <a:srgbClr val="0096A6"/>
              </a:buClr>
              <a:buFont typeface="Arial"/>
              <a:buChar char="•"/>
            </a:pPr>
            <a:r>
              <a:rPr lang="en-US" sz="14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B: a partial cross-collection check; the cause of the glioma drop is not isolated here.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9abc5bc8b_0_0"/>
          <p:cNvSpPr txBox="1"/>
          <p:nvPr>
            <p:ph type="title"/>
          </p:nvPr>
        </p:nvSpPr>
        <p:spPr>
          <a:xfrm>
            <a:off x="1808100" y="0"/>
            <a:ext cx="8229600" cy="853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YOLO11m Detection — Separate Study</a:t>
            </a:r>
          </a:p>
        </p:txBody>
      </p:sp>
      <p:sp>
        <p:nvSpPr>
          <p:cNvPr id="120" name="g4 protocol banner"/>
          <p:cNvSpPr txBox="1"/>
          <p:nvPr/>
        </p:nvSpPr>
        <p:spPr>
          <a:xfrm>
            <a:off x="457200" y="987552"/>
            <a:ext cx="11274552" cy="438912"/>
          </a:xfrm>
          <a:prstGeom prst="rect">
            <a:avLst/>
          </a:prstGeom>
          <a:solidFill>
            <a:srgbClr val="091852"/>
          </a:solidFill>
          <a:ln w="19050"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SEPARATE MEASUREMENT  ·  different dataset (Ultralytics brain-tumor detection)  ·  not coupled to NAC-ViT</a:t>
            </a:r>
          </a:p>
        </p:txBody>
      </p:sp>
      <p:graphicFrame>
        <p:nvGraphicFramePr>
          <p:cNvPr id="121" name="g4 det table"/>
          <p:cNvGraphicFramePr>
            <a:graphicFrameLocks noGrp="1"/>
          </p:cNvGraphicFramePr>
          <p:nvPr/>
        </p:nvGraphicFramePr>
        <p:xfrm>
          <a:off x="457200" y="1645920"/>
          <a:ext cx="4114800" cy="2148839"/>
        </p:xfrm>
        <a:graphic>
          <a:graphicData uri="http://schemas.openxmlformats.org/drawingml/2006/table">
            <a:tbl>
              <a:tblPr firstRow="1" bandRow="1"/>
              <a:tblGrid>
                <a:gridCol w="2286000"/>
                <a:gridCol w="1828800"/>
              </a:tblGrid>
              <a:tr h="429768">
                <a:tc>
                  <a:txBody>
                    <a:bodyPr/>
                    <a:lstStyle/>
                    <a:p>
                      <a:pPr marL="0" indent="0" algn="ctr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Metric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0918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Epoch 27 of 300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09185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l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Precision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EA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0.417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EAF5F7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l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Recall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0.795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l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mAP@0.50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EA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0.477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EAF5F7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l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mAP@0.50:0.95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09185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0.274</a:t>
                      </a:r>
                    </a:p>
                  </a:txBody>
                  <a:tcPr marL="80000" marR="80000" marT="36000" marB="36000" anchor="ctr">
                    <a:lnL w="9525">
                      <a:solidFill>
                        <a:srgbClr val="9FC9CF"/>
                      </a:solidFill>
                    </a:lnL>
                    <a:lnR w="9525">
                      <a:solidFill>
                        <a:srgbClr val="9FC9CF"/>
                      </a:solidFill>
                    </a:lnR>
                    <a:lnT w="9525">
                      <a:solidFill>
                        <a:srgbClr val="9FC9CF"/>
                      </a:solidFill>
                    </a:lnT>
                    <a:lnB w="9525">
                      <a:solidFill>
                        <a:srgbClr val="9FC9C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2" name="g4 det setup"/>
          <p:cNvSpPr txBox="1"/>
          <p:nvPr/>
        </p:nvSpPr>
        <p:spPr>
          <a:xfrm>
            <a:off x="457200" y="3840480"/>
            <a:ext cx="4114800" cy="566928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i="1">
                <a:solidFill>
                  <a:srgbClr val="5A6A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YOLO11m · 640 × 640 · AdamW + cosine LR · 300 epochs, no early stopping; epoch of highest mAP@0.50</a:t>
            </a:r>
          </a:p>
        </p:txBody>
      </p:sp>
      <p:sp>
        <p:nvSpPr>
          <p:cNvPr id="123" name="g4 det indep"/>
          <p:cNvSpPr txBox="1"/>
          <p:nvPr/>
        </p:nvSpPr>
        <p:spPr>
          <a:xfrm>
            <a:off x="457200" y="4526280"/>
            <a:ext cx="4114800" cy="1600200"/>
          </a:xfrm>
          <a:prstGeom prst="roundRect">
            <a:avLst/>
          </a:prstGeom>
          <a:noFill/>
          <a:ln w="12700">
            <a:solidFill>
              <a:srgbClr val="0096A6"/>
            </a:solidFill>
          </a:ln>
        </p:spPr>
        <p:txBody>
          <a:bodyPr wrap="square" lIns="91440" tIns="91440" rIns="91440" bIns="91440" anchor="ctr" rtlCol="0">
            <a:noAutofit/>
          </a:bodyPr>
          <a:lstStyle/>
          <a:p>
            <a:pPr marL="0" indent="0" algn="l" rtl="0" lvl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600" b="1">
                <a:solidFill>
                  <a:srgbClr val="0096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Evaluated independently</a:t>
            </a:r>
          </a:p>
          <a:p>
            <a:pPr marL="228600" indent="-228600" algn="l" rtl="0" lvl="0">
              <a:spcBef>
                <a:spcPts val="0"/>
              </a:spcBef>
              <a:spcAft>
                <a:spcPts val="200"/>
              </a:spcAft>
              <a:buClr>
                <a:srgbClr val="0096A6"/>
              </a:buClr>
              <a:buFont typeface="Arial"/>
              <a:buChar char="•"/>
            </a:pPr>
            <a:r>
              <a:rPr lang="en-US" sz="14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detector output was passed to NAC-ViT.</a:t>
            </a:r>
          </a:p>
          <a:p>
            <a:pPr marL="228600" indent="-228600" algn="l" rtl="0" lvl="0">
              <a:spcBef>
                <a:spcPts val="0"/>
              </a:spcBef>
              <a:spcAft>
                <a:spcPts val="0"/>
              </a:spcAft>
              <a:buClr>
                <a:srgbClr val="0096A6"/>
              </a:buClr>
              <a:buFont typeface="Arial"/>
              <a:buChar char="•"/>
            </a:pPr>
            <a:r>
              <a:rPr lang="en-US" sz="14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detect → classify pipeline is a design, not a measured result; no clinical claim.</a:t>
            </a:r>
          </a:p>
        </p:txBody>
      </p:sp>
      <p:pic>
        <p:nvPicPr>
          <p:cNvPr id="124" name="YOLO11m precision-recall curve" descr="YOLO11m precision-recall curve"/>
          <p:cNvPicPr>
            <a:picLocks noChangeAspect="1"/>
          </p:cNvPicPr>
          <p:nvPr/>
        </p:nvPicPr>
        <p:blipFill>
          <a:blip r:embed="rIdG32"/>
          <a:stretch>
            <a:fillRect/>
          </a:stretch>
        </p:blipFill>
        <p:spPr>
          <a:xfrm>
            <a:off x="4800600" y="1645920"/>
            <a:ext cx="3977639" cy="2651759"/>
          </a:xfrm>
          <a:prstGeom prst="rect">
            <a:avLst/>
          </a:prstGeom>
          <a:ln w="9525">
            <a:solidFill>
              <a:srgbClr val="9FC9CF"/>
            </a:solidFill>
          </a:ln>
        </p:spPr>
      </p:pic>
      <p:sp>
        <p:nvSpPr>
          <p:cNvPr id="125" name="g4 pr caption"/>
          <p:cNvSpPr txBox="1"/>
          <p:nvPr/>
        </p:nvSpPr>
        <p:spPr>
          <a:xfrm>
            <a:off x="4800600" y="4343399"/>
            <a:ext cx="3977639" cy="502920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i="1">
                <a:solidFill>
                  <a:srgbClr val="5A6A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 run: PR curve from the Ultralytics validation of the saved weights (legend 0.458); table = epoch-27 training-log peak</a:t>
            </a:r>
          </a:p>
        </p:txBody>
      </p:sp>
      <p:pic>
        <p:nvPicPr>
          <p:cNvPr id="126" name="Example YOLO11m validation predictions" descr="Example YOLO11m validation predictions"/>
          <p:cNvPicPr>
            <a:picLocks noChangeAspect="1"/>
          </p:cNvPicPr>
          <p:nvPr/>
        </p:nvPicPr>
        <p:blipFill>
          <a:blip r:embed="rIdG33"/>
          <a:stretch>
            <a:fillRect/>
          </a:stretch>
        </p:blipFill>
        <p:spPr>
          <a:xfrm>
            <a:off x="8988552" y="1645920"/>
            <a:ext cx="2743200" cy="1828800"/>
          </a:xfrm>
          <a:prstGeom prst="rect">
            <a:avLst/>
          </a:prstGeom>
          <a:ln w="9525">
            <a:solidFill>
              <a:srgbClr val="9FC9CF"/>
            </a:solidFill>
          </a:ln>
        </p:spPr>
      </p:pic>
      <p:sp>
        <p:nvSpPr>
          <p:cNvPr id="127" name="g4 val caption"/>
          <p:cNvSpPr txBox="1"/>
          <p:nvPr/>
        </p:nvSpPr>
        <p:spPr>
          <a:xfrm>
            <a:off x="8988552" y="3520439"/>
            <a:ext cx="2743200" cy="685800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i="1">
                <a:solidFill>
                  <a:srgbClr val="5A6A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 run: example validation predictions (val_batch0_pred, cropped); labels and confidences as output by the detector</a:t>
            </a:r>
          </a:p>
        </p:txBody>
      </p:sp>
      <p:sp>
        <p:nvSpPr>
          <p:cNvPr id="128" name="g4 det note"/>
          <p:cNvSpPr txBox="1"/>
          <p:nvPr/>
        </p:nvSpPr>
        <p:spPr>
          <a:xfrm>
            <a:off x="8988552" y="4251960"/>
            <a:ext cx="2743200" cy="1874519"/>
          </a:xfrm>
          <a:prstGeom prst="roundRect">
            <a:avLst/>
          </a:prstGeom>
          <a:solidFill>
            <a:srgbClr val="EAF5F7"/>
          </a:solidFill>
          <a:ln w="9525">
            <a:solidFill>
              <a:srgbClr val="9FC9CF"/>
            </a:solidFill>
          </a:ln>
        </p:spPr>
        <p:txBody>
          <a:bodyPr wrap="square" lIns="91440" tIns="91440" rIns="91440" bIns="91440" anchor="ctr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b="1">
                <a:solidFill>
                  <a:srgbClr val="0096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Reported at the peak</a:t>
            </a:r>
          </a:p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Later epochs did not improve on epoch 27; final-epoch metrics are not reported as results.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9abc5bc8b_0_0"/>
          <p:cNvSpPr txBox="1"/>
          <p:nvPr>
            <p:ph type="title"/>
          </p:nvPr>
        </p:nvSpPr>
        <p:spPr>
          <a:xfrm>
            <a:off x="1808100" y="0"/>
            <a:ext cx="8229600" cy="853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Discussion &amp; Limitations</a:t>
            </a:r>
          </a:p>
        </p:txBody>
      </p:sp>
      <p:sp>
        <p:nvSpPr>
          <p:cNvPr id="120" name="g5 discussion"/>
          <p:cNvSpPr txBox="1"/>
          <p:nvPr/>
        </p:nvSpPr>
        <p:spPr>
          <a:xfrm>
            <a:off x="457200" y="1024128"/>
            <a:ext cx="5486400" cy="3931920"/>
          </a:xfrm>
          <a:prstGeom prst="rect">
            <a:avLst/>
          </a:prstGeom>
          <a:noFill/>
          <a:ln w="19050">
            <a:noFill/>
          </a:ln>
        </p:spPr>
        <p:txBody>
          <a:bodyPr wrap="square" lIns="91425" tIns="45700" rIns="91425" bIns="45700" anchor="t" rtlCol="0">
            <a:noAutofit/>
          </a:bodyPr>
          <a:lstStyle/>
          <a:p>
            <a:pPr marL="0" indent="0" algn="l" rtl="0" lv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200" b="1">
                <a:solidFill>
                  <a:srgbClr val="0096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Discussion</a:t>
            </a:r>
          </a:p>
          <a:p>
            <a:pPr marL="257175" indent="-257175" algn="l" rtl="0" lvl="0">
              <a:spcBef>
                <a:spcPts val="0"/>
              </a:spcBef>
              <a:spcAft>
                <a:spcPts val="700"/>
              </a:spcAft>
              <a:buClr>
                <a:srgbClr val="0096A6"/>
              </a:buClr>
              <a:buFont typeface="Arial"/>
              <a:buChar char="•"/>
            </a:pPr>
            <a:r>
              <a:rPr lang="en-US" sz="1500" b="1">
                <a:solidFill>
                  <a:srgbClr val="0096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 protocols: </a:t>
            </a:r>
            <a:r>
              <a:rPr lang="en-US" sz="15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96.36% pooled vs 78.43% Testing folder — different test sets, CIs do not overlap; neither estimates the other.</a:t>
            </a:r>
          </a:p>
          <a:p>
            <a:pPr marL="257175" indent="-257175" algn="l" rtl="0" lvl="0">
              <a:spcBef>
                <a:spcPts val="0"/>
              </a:spcBef>
              <a:spcAft>
                <a:spcPts val="700"/>
              </a:spcAft>
              <a:buClr>
                <a:srgbClr val="0096A6"/>
              </a:buClr>
              <a:buFont typeface="Arial"/>
              <a:buChar char="•"/>
            </a:pPr>
            <a:r>
              <a:rPr lang="en-US" sz="1500" b="1">
                <a:solidFill>
                  <a:srgbClr val="0096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Class-specific: </a:t>
            </a:r>
            <a:r>
              <a:rPr lang="en-US" sz="15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Testing-folder drop concentrated in glioma (recall 0.240, precision 1.000); pooled errors cluster at glioma–meningioma, 6 of 12 at p ≥ 0.90.</a:t>
            </a:r>
          </a:p>
          <a:p>
            <a:pPr marL="257175" indent="-257175" algn="l" rtl="0" lvl="0">
              <a:spcBef>
                <a:spcPts val="0"/>
              </a:spcBef>
              <a:spcAft>
                <a:spcPts val="700"/>
              </a:spcAft>
              <a:buClr>
                <a:srgbClr val="0096A6"/>
              </a:buClr>
              <a:buFont typeface="Arial"/>
              <a:buChar char="•"/>
            </a:pPr>
            <a:r>
              <a:rPr lang="en-US" sz="1500" b="1">
                <a:solidFill>
                  <a:srgbClr val="0096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Gates near init: </a:t>
            </a:r>
            <a:r>
              <a:rPr lang="en-US" sz="15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φ, ω stayed ≈ 0.693, so the gain over the frozen run (69.05%, not remeasured) is attributed mainly to backbone adaptation.</a:t>
            </a:r>
          </a:p>
          <a:p>
            <a:pPr marL="257175" indent="-257175" algn="l" rtl="0" lvl="0">
              <a:spcBef>
                <a:spcPts val="0"/>
              </a:spcBef>
              <a:spcAft>
                <a:spcPts val="700"/>
              </a:spcAft>
              <a:buClr>
                <a:srgbClr val="0096A6"/>
              </a:buClr>
              <a:buFont typeface="Arial"/>
              <a:buChar char="•"/>
            </a:pPr>
            <a:r>
              <a:rPr lang="en-US" sz="1500" b="1">
                <a:solidFill>
                  <a:srgbClr val="0096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Detection: </a:t>
            </a:r>
            <a:r>
              <a:rPr lang="en-US" sz="15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recall 0.795 &gt; precision 0.417 — relevant if a localizer precedes a classifier.</a:t>
            </a:r>
          </a:p>
        </p:txBody>
      </p:sp>
      <p:sp>
        <p:nvSpPr>
          <p:cNvPr id="121" name="g5 divider"/>
          <p:cNvSpPr txBox="1"/>
          <p:nvPr/>
        </p:nvSpPr>
        <p:spPr>
          <a:xfrm>
            <a:off x="6071616" y="1143000"/>
            <a:ext cx="27432" cy="3703320"/>
          </a:xfrm>
          <a:prstGeom prst="rect">
            <a:avLst/>
          </a:prstGeom>
          <a:solidFill>
            <a:srgbClr val="0096A6"/>
          </a:solidFill>
          <a:ln w="19050"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</a:p>
        </p:txBody>
      </p:sp>
      <p:sp>
        <p:nvSpPr>
          <p:cNvPr id="122" name="g5 limits"/>
          <p:cNvSpPr txBox="1"/>
          <p:nvPr/>
        </p:nvSpPr>
        <p:spPr>
          <a:xfrm>
            <a:off x="6245352" y="1024128"/>
            <a:ext cx="5486400" cy="3931920"/>
          </a:xfrm>
          <a:prstGeom prst="rect">
            <a:avLst/>
          </a:prstGeom>
          <a:noFill/>
          <a:ln w="19050">
            <a:noFill/>
          </a:ln>
        </p:spPr>
        <p:txBody>
          <a:bodyPr wrap="square" lIns="91425" tIns="45700" rIns="91425" bIns="45700" anchor="t" rtlCol="0">
            <a:noAutofit/>
          </a:bodyPr>
          <a:lstStyle/>
          <a:p>
            <a:pPr marL="0" indent="0" algn="l" rtl="0" lv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200" b="1">
                <a:solidFill>
                  <a:srgbClr val="0096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</a:t>
            </a:r>
          </a:p>
          <a:p>
            <a:pPr marL="257175" indent="-257175" algn="l" rtl="0" lvl="0">
              <a:spcBef>
                <a:spcPts val="0"/>
              </a:spcBef>
              <a:spcAft>
                <a:spcPts val="700"/>
              </a:spcAft>
              <a:buClr>
                <a:srgbClr val="0096A6"/>
              </a:buClr>
              <a:buFont typeface="Arial"/>
              <a:buChar char="•"/>
            </a:pPr>
            <a:r>
              <a:rPr lang="en-US" sz="1500" b="1">
                <a:solidFill>
                  <a:srgbClr val="0096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public collection; </a:t>
            </a:r>
            <a:r>
              <a:rPr lang="en-US" sz="15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patient identifiers, so no patient-level split — the pooled estimate may overestimate.</a:t>
            </a:r>
          </a:p>
          <a:p>
            <a:pPr marL="257175" indent="-257175" algn="l" rtl="0" lvl="0">
              <a:spcBef>
                <a:spcPts val="0"/>
              </a:spcBef>
              <a:spcAft>
                <a:spcPts val="700"/>
              </a:spcAft>
              <a:buClr>
                <a:srgbClr val="0096A6"/>
              </a:buClr>
              <a:buFont typeface="Arial"/>
              <a:buChar char="•"/>
            </a:pPr>
            <a:r>
              <a:rPr lang="en-US" sz="1500" b="1">
                <a:solidFill>
                  <a:srgbClr val="0096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second institution, </a:t>
            </a:r>
            <a:r>
              <a:rPr lang="en-US" sz="15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additional MR sequence, or clinical reader study.</a:t>
            </a:r>
          </a:p>
          <a:p>
            <a:pPr marL="257175" indent="-257175" algn="l" rtl="0" lvl="0">
              <a:spcBef>
                <a:spcPts val="0"/>
              </a:spcBef>
              <a:spcAft>
                <a:spcPts val="700"/>
              </a:spcAft>
              <a:buClr>
                <a:srgbClr val="0096A6"/>
              </a:buClr>
              <a:buFont typeface="Arial"/>
              <a:buChar char="•"/>
            </a:pPr>
            <a:r>
              <a:rPr lang="en-US" sz="1500" b="1">
                <a:solidFill>
                  <a:srgbClr val="0096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end-to-end evaluation: </a:t>
            </a:r>
            <a:r>
              <a:rPr lang="en-US" sz="15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detector boxes were never passed to NAC-ViT; separate collections.</a:t>
            </a:r>
          </a:p>
          <a:p>
            <a:pPr marL="257175" indent="-257175" algn="l" rtl="0" lvl="0">
              <a:spcBef>
                <a:spcPts val="0"/>
              </a:spcBef>
              <a:spcAft>
                <a:spcPts val="700"/>
              </a:spcAft>
              <a:buClr>
                <a:srgbClr val="0096A6"/>
              </a:buClr>
              <a:buFont typeface="Arial"/>
              <a:buChar char="•"/>
            </a:pPr>
            <a:r>
              <a:rPr lang="en-US" sz="1500" b="1">
                <a:solidFill>
                  <a:srgbClr val="0096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Detection peak only: </a:t>
            </a:r>
            <a:r>
              <a:rPr lang="en-US" sz="15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epoch 27 reported; later epochs did not improve (log: mAP@0.50 0.003 at epoch 300).</a:t>
            </a:r>
          </a:p>
          <a:p>
            <a:pPr marL="257175" indent="-257175" algn="l" rtl="0" lvl="0">
              <a:spcBef>
                <a:spcPts val="0"/>
              </a:spcBef>
              <a:spcAft>
                <a:spcPts val="700"/>
              </a:spcAft>
              <a:buClr>
                <a:srgbClr val="0096A6"/>
              </a:buClr>
              <a:buFont typeface="Arial"/>
              <a:buChar char="•"/>
            </a:pPr>
            <a:r>
              <a:rPr lang="en-US" sz="1500" b="1">
                <a:solidFill>
                  <a:srgbClr val="0096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reproduced: </a:t>
            </a:r>
            <a:r>
              <a:rPr lang="en-US" sz="15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frozen-backbone 69.05%; no cross-validation or bootstrap.</a:t>
            </a:r>
          </a:p>
        </p:txBody>
      </p:sp>
      <p:sp>
        <p:nvSpPr>
          <p:cNvPr id="123" name="g5 caution"/>
          <p:cNvSpPr txBox="1"/>
          <p:nvPr/>
        </p:nvSpPr>
        <p:spPr>
          <a:xfrm>
            <a:off x="457200" y="5120640"/>
            <a:ext cx="11274552" cy="868680"/>
          </a:xfrm>
          <a:prstGeom prst="roundRect">
            <a:avLst/>
          </a:prstGeom>
          <a:solidFill>
            <a:srgbClr val="091852"/>
          </a:solidFill>
          <a:ln w="19050">
            <a:noFill/>
          </a:ln>
        </p:spPr>
        <p:txBody>
          <a:bodyPr wrap="square" lIns="91440" tIns="91440" rIns="91440" bIns="91440" anchor="ctr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7FD3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Before any clinical use: </a:t>
            </a:r>
            <a:r>
              <a:rPr lang="en-US"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multi-institutional, patient-level external validation and reader studies are required.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9abc5bc8b_0_0"/>
          <p:cNvSpPr txBox="1"/>
          <p:nvPr>
            <p:ph type="title"/>
          </p:nvPr>
        </p:nvSpPr>
        <p:spPr>
          <a:xfrm>
            <a:off x="1808100" y="0"/>
            <a:ext cx="8229600" cy="853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&amp; Future Work</a:t>
            </a:r>
          </a:p>
        </p:txBody>
      </p:sp>
      <p:sp>
        <p:nvSpPr>
          <p:cNvPr id="120" name="g5 done head"/>
          <p:cNvSpPr txBox="1"/>
          <p:nvPr/>
        </p:nvSpPr>
        <p:spPr>
          <a:xfrm>
            <a:off x="457200" y="987552"/>
            <a:ext cx="11274552" cy="365760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96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Completed — measured in this study</a:t>
            </a:r>
          </a:p>
        </p:txBody>
      </p:sp>
      <p:sp>
        <p:nvSpPr>
          <p:cNvPr id="121" name="g5 card 0"/>
          <p:cNvSpPr txBox="1"/>
          <p:nvPr/>
        </p:nvSpPr>
        <p:spPr>
          <a:xfrm>
            <a:off x="457200" y="1417320"/>
            <a:ext cx="2697480" cy="2011680"/>
          </a:xfrm>
          <a:prstGeom prst="roundRect">
            <a:avLst/>
          </a:prstGeom>
          <a:solidFill>
            <a:srgbClr val="EAF5F7"/>
          </a:solidFill>
          <a:ln w="9525">
            <a:solidFill>
              <a:srgbClr val="9FC9CF"/>
            </a:solidFill>
          </a:ln>
        </p:spPr>
        <p:txBody>
          <a:bodyPr wrap="square" lIns="91440" tIns="91440" rIns="91440" bIns="91440" anchor="ctr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3400" b="1">
                <a:solidFill>
                  <a:srgbClr val="0096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96.36%</a:t>
            </a:r>
          </a:p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Protocol A pooled test: 318/330 correct</a:t>
            </a:r>
          </a:p>
        </p:txBody>
      </p:sp>
      <p:sp>
        <p:nvSpPr>
          <p:cNvPr id="122" name="g5 card 1"/>
          <p:cNvSpPr txBox="1"/>
          <p:nvPr/>
        </p:nvSpPr>
        <p:spPr>
          <a:xfrm>
            <a:off x="3319272" y="1417320"/>
            <a:ext cx="2697480" cy="2011680"/>
          </a:xfrm>
          <a:prstGeom prst="roundRect">
            <a:avLst/>
          </a:prstGeom>
          <a:solidFill>
            <a:srgbClr val="EAF5F7"/>
          </a:solidFill>
          <a:ln w="9525">
            <a:solidFill>
              <a:srgbClr val="9FC9CF"/>
            </a:solidFill>
          </a:ln>
        </p:spPr>
        <p:txBody>
          <a:bodyPr wrap="square" lIns="91440" tIns="91440" rIns="91440" bIns="91440" anchor="ctr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3400" b="1">
                <a:solidFill>
                  <a:srgbClr val="0096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78.43%</a:t>
            </a:r>
          </a:p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Protocol B Testing folder: 309/394; deficit in glioma recall</a:t>
            </a:r>
          </a:p>
        </p:txBody>
      </p:sp>
      <p:sp>
        <p:nvSpPr>
          <p:cNvPr id="123" name="g5 card 2"/>
          <p:cNvSpPr txBox="1"/>
          <p:nvPr/>
        </p:nvSpPr>
        <p:spPr>
          <a:xfrm>
            <a:off x="6181344" y="1417320"/>
            <a:ext cx="2697480" cy="2011680"/>
          </a:xfrm>
          <a:prstGeom prst="roundRect">
            <a:avLst/>
          </a:prstGeom>
          <a:solidFill>
            <a:srgbClr val="EAF5F7"/>
          </a:solidFill>
          <a:ln w="9525">
            <a:solidFill>
              <a:srgbClr val="9FC9CF"/>
            </a:solidFill>
          </a:ln>
        </p:spPr>
        <p:txBody>
          <a:bodyPr wrap="square" lIns="91440" tIns="91440" rIns="91440" bIns="91440" anchor="ctr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2800" b="1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φ, ω ≈ init</a:t>
            </a:r>
          </a:p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gate and leak stayed near 0.693; readable from the checkpoint</a:t>
            </a:r>
          </a:p>
        </p:txBody>
      </p:sp>
      <p:sp>
        <p:nvSpPr>
          <p:cNvPr id="124" name="g5 card 3"/>
          <p:cNvSpPr txBox="1"/>
          <p:nvPr/>
        </p:nvSpPr>
        <p:spPr>
          <a:xfrm>
            <a:off x="9043416" y="1417320"/>
            <a:ext cx="2697480" cy="2011680"/>
          </a:xfrm>
          <a:prstGeom prst="roundRect">
            <a:avLst/>
          </a:prstGeom>
          <a:solidFill>
            <a:srgbClr val="EAF5F7"/>
          </a:solidFill>
          <a:ln w="9525">
            <a:solidFill>
              <a:srgbClr val="9FC9CF"/>
            </a:solidFill>
          </a:ln>
        </p:spPr>
        <p:txBody>
          <a:bodyPr wrap="square" lIns="91440" tIns="91440" rIns="91440" bIns="91440" anchor="ctr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3400" b="1">
                <a:solidFill>
                  <a:srgbClr val="0096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0.477</a:t>
            </a:r>
          </a:p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YOLO11m mAP@0.50 at epoch 27 — separate measurement</a:t>
            </a:r>
          </a:p>
        </p:txBody>
      </p:sp>
      <p:sp>
        <p:nvSpPr>
          <p:cNvPr id="125" name="g5 fut head"/>
          <p:cNvSpPr txBox="1"/>
          <p:nvPr/>
        </p:nvSpPr>
        <p:spPr>
          <a:xfrm>
            <a:off x="457200" y="3657600"/>
            <a:ext cx="11274552" cy="365760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96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— not yet measured</a:t>
            </a:r>
          </a:p>
        </p:txBody>
      </p:sp>
      <p:sp>
        <p:nvSpPr>
          <p:cNvPr id="126" name="g5 fut num 0"/>
          <p:cNvSpPr txBox="1"/>
          <p:nvPr/>
        </p:nvSpPr>
        <p:spPr>
          <a:xfrm>
            <a:off x="457200" y="4270248"/>
            <a:ext cx="548640" cy="548640"/>
          </a:xfrm>
          <a:prstGeom prst="ellipse">
            <a:avLst/>
          </a:prstGeom>
          <a:solidFill>
            <a:srgbClr val="091852"/>
          </a:solidFill>
          <a:ln w="19050"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</a:p>
        </p:txBody>
      </p:sp>
      <p:sp>
        <p:nvSpPr>
          <p:cNvPr id="127" name="g5 fut 0"/>
          <p:cNvSpPr txBox="1"/>
          <p:nvPr/>
        </p:nvSpPr>
        <p:spPr>
          <a:xfrm>
            <a:off x="1078992" y="4114800"/>
            <a:ext cx="3017520" cy="868680"/>
          </a:xfrm>
          <a:prstGeom prst="rect">
            <a:avLst/>
          </a:prstGeom>
          <a:noFill/>
          <a:ln w="19050">
            <a:noFill/>
          </a:ln>
        </p:spPr>
        <p:txBody>
          <a:bodyPr wrap="square" lIns="91425" tIns="45700" rIns="91425" bIns="45700" anchor="ctr" rtlCol="0">
            <a:noAutofit/>
          </a:bodyPr>
          <a:lstStyle/>
          <a:p>
            <a:pPr marL="0" indent="0" algn="l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Controlled ablation without NAC (same backbone, splits and seeds)</a:t>
            </a:r>
          </a:p>
        </p:txBody>
      </p:sp>
      <p:sp>
        <p:nvSpPr>
          <p:cNvPr id="128" name="g5 fut num 1"/>
          <p:cNvSpPr txBox="1"/>
          <p:nvPr/>
        </p:nvSpPr>
        <p:spPr>
          <a:xfrm>
            <a:off x="4270248" y="4270248"/>
            <a:ext cx="548640" cy="548640"/>
          </a:xfrm>
          <a:prstGeom prst="ellipse">
            <a:avLst/>
          </a:prstGeom>
          <a:solidFill>
            <a:srgbClr val="091852"/>
          </a:solidFill>
          <a:ln w="19050"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</a:p>
        </p:txBody>
      </p:sp>
      <p:sp>
        <p:nvSpPr>
          <p:cNvPr id="129" name="g5 fut 1"/>
          <p:cNvSpPr txBox="1"/>
          <p:nvPr/>
        </p:nvSpPr>
        <p:spPr>
          <a:xfrm>
            <a:off x="4892040" y="4114800"/>
            <a:ext cx="3017520" cy="868680"/>
          </a:xfrm>
          <a:prstGeom prst="rect">
            <a:avLst/>
          </a:prstGeom>
          <a:noFill/>
          <a:ln w="19050">
            <a:noFill/>
          </a:ln>
        </p:spPr>
        <p:txBody>
          <a:bodyPr wrap="square" lIns="91425" tIns="45700" rIns="91425" bIns="45700" anchor="ctr" rtlCol="0">
            <a:noAutofit/>
          </a:bodyPr>
          <a:lstStyle/>
          <a:p>
            <a:pPr marL="0" indent="0" algn="l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Domain-shift mitigation: domain adaptation, multi-source training</a:t>
            </a:r>
          </a:p>
        </p:txBody>
      </p:sp>
      <p:sp>
        <p:nvSpPr>
          <p:cNvPr id="130" name="g5 fut num 2"/>
          <p:cNvSpPr txBox="1"/>
          <p:nvPr/>
        </p:nvSpPr>
        <p:spPr>
          <a:xfrm>
            <a:off x="8083296" y="4270248"/>
            <a:ext cx="548640" cy="548640"/>
          </a:xfrm>
          <a:prstGeom prst="ellipse">
            <a:avLst/>
          </a:prstGeom>
          <a:solidFill>
            <a:srgbClr val="091852"/>
          </a:solidFill>
          <a:ln w="19050"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</a:p>
        </p:txBody>
      </p:sp>
      <p:sp>
        <p:nvSpPr>
          <p:cNvPr id="131" name="g5 fut 2"/>
          <p:cNvSpPr txBox="1"/>
          <p:nvPr/>
        </p:nvSpPr>
        <p:spPr>
          <a:xfrm>
            <a:off x="8705088" y="4114800"/>
            <a:ext cx="3017520" cy="868680"/>
          </a:xfrm>
          <a:prstGeom prst="rect">
            <a:avLst/>
          </a:prstGeom>
          <a:noFill/>
          <a:ln w="19050">
            <a:noFill/>
          </a:ln>
        </p:spPr>
        <p:txBody>
          <a:bodyPr wrap="square" lIns="91425" tIns="45700" rIns="91425" bIns="45700" anchor="ctr" rtlCol="0">
            <a:noAutofit/>
          </a:bodyPr>
          <a:lstStyle/>
          <a:p>
            <a:pPr marL="0" indent="0" algn="l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Multi-institutional, patient-level validation</a:t>
            </a:r>
          </a:p>
        </p:txBody>
      </p:sp>
      <p:sp>
        <p:nvSpPr>
          <p:cNvPr id="132" name="g5 fut num 3"/>
          <p:cNvSpPr txBox="1"/>
          <p:nvPr/>
        </p:nvSpPr>
        <p:spPr>
          <a:xfrm>
            <a:off x="457200" y="5230368"/>
            <a:ext cx="548640" cy="548640"/>
          </a:xfrm>
          <a:prstGeom prst="ellipse">
            <a:avLst/>
          </a:prstGeom>
          <a:solidFill>
            <a:srgbClr val="091852"/>
          </a:solidFill>
          <a:ln w="19050"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</a:p>
        </p:txBody>
      </p:sp>
      <p:sp>
        <p:nvSpPr>
          <p:cNvPr id="133" name="g5 fut 3"/>
          <p:cNvSpPr txBox="1"/>
          <p:nvPr/>
        </p:nvSpPr>
        <p:spPr>
          <a:xfrm>
            <a:off x="1078992" y="5074920"/>
            <a:ext cx="3017520" cy="868680"/>
          </a:xfrm>
          <a:prstGeom prst="rect">
            <a:avLst/>
          </a:prstGeom>
          <a:noFill/>
          <a:ln w="19050">
            <a:noFill/>
          </a:ln>
        </p:spPr>
        <p:txBody>
          <a:bodyPr wrap="square" lIns="91425" tIns="45700" rIns="91425" bIns="45700" anchor="ctr" rtlCol="0">
            <a:noAutofit/>
          </a:bodyPr>
          <a:lstStyle/>
          <a:p>
            <a:pPr marL="0" indent="0" algn="l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Integrated crop-then-classify evaluation (detector → classifier)</a:t>
            </a:r>
          </a:p>
        </p:txBody>
      </p:sp>
      <p:sp>
        <p:nvSpPr>
          <p:cNvPr id="134" name="g5 fut num 4"/>
          <p:cNvSpPr txBox="1"/>
          <p:nvPr/>
        </p:nvSpPr>
        <p:spPr>
          <a:xfrm>
            <a:off x="4270248" y="5230368"/>
            <a:ext cx="548640" cy="548640"/>
          </a:xfrm>
          <a:prstGeom prst="ellipse">
            <a:avLst/>
          </a:prstGeom>
          <a:solidFill>
            <a:srgbClr val="091852"/>
          </a:solidFill>
          <a:ln w="19050"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</a:p>
        </p:txBody>
      </p:sp>
      <p:sp>
        <p:nvSpPr>
          <p:cNvPr id="135" name="g5 fut 4"/>
          <p:cNvSpPr txBox="1"/>
          <p:nvPr/>
        </p:nvSpPr>
        <p:spPr>
          <a:xfrm>
            <a:off x="4892040" y="5074920"/>
            <a:ext cx="3017520" cy="868680"/>
          </a:xfrm>
          <a:prstGeom prst="rect">
            <a:avLst/>
          </a:prstGeom>
          <a:noFill/>
          <a:ln w="19050">
            <a:noFill/>
          </a:ln>
        </p:spPr>
        <p:txBody>
          <a:bodyPr wrap="square" lIns="91425" tIns="45700" rIns="91425" bIns="45700" anchor="ctr" rtlCol="0">
            <a:noAutofit/>
          </a:bodyPr>
          <a:lstStyle/>
          <a:p>
            <a:pPr marL="0" indent="0" algn="l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Clinical reader studies</a:t>
            </a:r>
          </a:p>
        </p:txBody>
      </p:sp>
      <p:sp>
        <p:nvSpPr>
          <p:cNvPr id="136" name="g5 fut num 5"/>
          <p:cNvSpPr txBox="1"/>
          <p:nvPr/>
        </p:nvSpPr>
        <p:spPr>
          <a:xfrm>
            <a:off x="8083296" y="5230368"/>
            <a:ext cx="548640" cy="548640"/>
          </a:xfrm>
          <a:prstGeom prst="ellipse">
            <a:avLst/>
          </a:prstGeom>
          <a:solidFill>
            <a:srgbClr val="091852"/>
          </a:solidFill>
          <a:ln w="19050"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</a:p>
        </p:txBody>
      </p:sp>
      <p:sp>
        <p:nvSpPr>
          <p:cNvPr id="137" name="g5 fut 5"/>
          <p:cNvSpPr txBox="1"/>
          <p:nvPr/>
        </p:nvSpPr>
        <p:spPr>
          <a:xfrm>
            <a:off x="8705088" y="5074920"/>
            <a:ext cx="3017520" cy="868680"/>
          </a:xfrm>
          <a:prstGeom prst="rect">
            <a:avLst/>
          </a:prstGeom>
          <a:noFill/>
          <a:ln w="19050">
            <a:noFill/>
          </a:ln>
        </p:spPr>
        <p:txBody>
          <a:bodyPr wrap="square" lIns="91425" tIns="45700" rIns="91425" bIns="45700" anchor="ctr" rtlCol="0">
            <a:noAutofit/>
          </a:bodyPr>
          <a:lstStyle/>
          <a:p>
            <a:pPr marL="0" indent="0" algn="l" rtl="0"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0918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do φ and ω diverge from init? (larger, more heterogeneous data)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ICISHCT 2026</dc:creator>
</cp:coreProperties>
</file>